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 60 initiatives, 8 functions, no integrated roadmap. User: transformation director in the first 90 days, supported by PMO and CFO. Solution: build the dependency graph, sequence it deterministically, price three scenarios, and show when value reaches the P&amp;L.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the inputs already exist - no migration. Middle: six repeatable steps. AI does the reading, offline; the sequencing is deterministic code so the answer is reproducible and auditable. Right: the four deliverables.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Money shot: $895k gates $38.6m across 28 initiatives - 43x, and last of 60 on its own business case. Constraints priced: money, people, time, regulatory. The table is how the board picks: same engine, three constraint sets, and the cost of each in breakage is visible next to its financials.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3E9AB8"/>
                </a:solidFill>
                <a:latin typeface="Calibri"/>
              </a:rPr>
              <a:t>TEAM 1   ·   ABERDEEN ADVISORS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Transformation Roadmap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B8C9DA"/>
                </a:solidFill>
                <a:latin typeface="Calibri"/>
              </a:rPr>
              <a:t>Sixty inherited initiatives, sequenced against their real dependencies — and the decisions that follow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00784"/>
            <a:ext cx="3602736" cy="2688336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1938528"/>
            <a:ext cx="402336" cy="402336"/>
          </a:xfrm>
          <a:prstGeom prst="ellipse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201168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1B6E8C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42032"/>
            <a:ext cx="312724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200" b="0" i="0">
                <a:solidFill>
                  <a:srgbClr val="333F4F"/>
                </a:solidFill>
                <a:latin typeface="Calibri"/>
              </a:rPr>
              <a:t>A new transformation leader inherits </a:t>
            </a:r>
            <a:r>
              <a:rPr sz="1200" b="1" i="0">
                <a:solidFill>
                  <a:srgbClr val="16283C"/>
                </a:solidFill>
                <a:latin typeface="Calibri"/>
              </a:rPr>
              <a:t>60 initiatives</a:t>
            </a:r>
            <a:r>
              <a:rPr sz="1200" b="0" i="0">
                <a:solidFill>
                  <a:srgbClr val="333F4F"/>
                </a:solidFill>
                <a:latin typeface="Calibri"/>
              </a:rPr>
              <a:t> across </a:t>
            </a:r>
            <a:r>
              <a:rPr sz="1200" b="1" i="0">
                <a:solidFill>
                  <a:srgbClr val="16283C"/>
                </a:solidFill>
                <a:latin typeface="Calibri"/>
              </a:rPr>
              <a:t>8 functions</a:t>
            </a:r>
            <a:r>
              <a:rPr sz="1200" b="0" i="0">
                <a:solidFill>
                  <a:srgbClr val="333F4F"/>
                </a:solidFill>
                <a:latin typeface="Calibri"/>
              </a:rPr>
              <a:t>, written by 60 different people.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200" b="0" i="0">
                <a:solidFill>
                  <a:srgbClr val="333F4F"/>
                </a:solidFill>
                <a:latin typeface="Calibri"/>
              </a:rPr>
              <a:t>No integrated roadmap. No agreed priorities. </a:t>
            </a:r>
            <a:r>
              <a:rPr sz="1200" b="1" i="0">
                <a:solidFill>
                  <a:srgbClr val="16283C"/>
                </a:solidFill>
                <a:latin typeface="Calibri"/>
              </a:rPr>
              <a:t>95 dependencies</a:t>
            </a:r>
            <a:r>
              <a:rPr sz="1200" b="0" i="0">
                <a:solidFill>
                  <a:srgbClr val="333F4F"/>
                </a:solidFill>
                <a:latin typeface="Calibri"/>
              </a:rPr>
              <a:t> that live in nobody's plan.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200" b="0" i="0">
                <a:solidFill>
                  <a:srgbClr val="333F4F"/>
                </a:solidFill>
                <a:latin typeface="Calibri"/>
              </a:rPr>
              <a:t>The board asks three questions nobody can answer from the evidence that exists.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700784"/>
            <a:ext cx="3602736" cy="2688336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72583" y="1938528"/>
            <a:ext cx="402336" cy="402336"/>
          </a:xfrm>
          <a:prstGeom prst="ellipse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2936" y="201168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1B6E8C"/>
                </a:solidFill>
                <a:latin typeface="Calibri"/>
              </a:rPr>
              <a:t>WHO IT IS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3" y="2542032"/>
            <a:ext cx="312724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200" b="1" i="0">
                <a:solidFill>
                  <a:srgbClr val="16283C"/>
                </a:solidFill>
                <a:latin typeface="Calibri"/>
              </a:rPr>
              <a:t>The transformation director</a:t>
            </a:r>
            <a:r>
              <a:rPr sz="1200" b="0" i="0">
                <a:solidFill>
                  <a:srgbClr val="333F4F"/>
                </a:solidFill>
                <a:latin typeface="Calibri"/>
              </a:rPr>
              <a:t>, first 90 days, owing the board a credible plan.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200" b="1" i="0">
                <a:solidFill>
                  <a:srgbClr val="16283C"/>
                </a:solidFill>
                <a:latin typeface="Calibri"/>
              </a:rPr>
              <a:t>The PMO lead</a:t>
            </a:r>
            <a:r>
              <a:rPr sz="1200" b="0" i="0">
                <a:solidFill>
                  <a:srgbClr val="333F4F"/>
                </a:solidFill>
                <a:latin typeface="Calibri"/>
              </a:rPr>
              <a:t> who has to maintain it across eight business cases and a monthly cycle.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200" b="1" i="0">
                <a:solidFill>
                  <a:srgbClr val="16283C"/>
                </a:solidFill>
                <a:latin typeface="Calibri"/>
              </a:rPr>
              <a:t>The CFO</a:t>
            </a:r>
            <a:r>
              <a:rPr sz="1200" b="0" i="0">
                <a:solidFill>
                  <a:srgbClr val="333F4F"/>
                </a:solidFill>
                <a:latin typeface="Calibri"/>
              </a:rPr>
              <a:t>, who defends the benefit baseline and signs off the spending envelope.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02751" y="1700784"/>
            <a:ext cx="3602736" cy="2688336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40495" y="1938528"/>
            <a:ext cx="402336" cy="402336"/>
          </a:xfrm>
          <a:prstGeom prst="ellipse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7" y="201168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1B6E8C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5" y="2542032"/>
            <a:ext cx="312724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200" b="0" i="0">
                <a:solidFill>
                  <a:srgbClr val="333F4F"/>
                </a:solidFill>
                <a:latin typeface="Calibri"/>
              </a:rPr>
              <a:t>Reads the plans that already exist and builds the </a:t>
            </a:r>
            <a:r>
              <a:rPr sz="1200" b="1" i="0">
                <a:solidFill>
                  <a:srgbClr val="16283C"/>
                </a:solidFill>
                <a:latin typeface="Calibri"/>
              </a:rPr>
              <a:t>dependency graph</a:t>
            </a:r>
            <a:r>
              <a:rPr sz="1200" b="0" i="0">
                <a:solidFill>
                  <a:srgbClr val="333F4F"/>
                </a:solidFill>
                <a:latin typeface="Calibri"/>
              </a:rPr>
              <a:t> nobody has drawn.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200" b="0" i="0">
                <a:solidFill>
                  <a:srgbClr val="333F4F"/>
                </a:solidFill>
                <a:latin typeface="Calibri"/>
              </a:rPr>
              <a:t>Sequences deterministically, detects what breaks, and prices </a:t>
            </a:r>
            <a:r>
              <a:rPr sz="1200" b="1" i="0">
                <a:solidFill>
                  <a:srgbClr val="16283C"/>
                </a:solidFill>
                <a:latin typeface="Calibri"/>
              </a:rPr>
              <a:t>three funding scenarios</a:t>
            </a:r>
            <a:r>
              <a:rPr sz="1200" b="0" i="0">
                <a:solidFill>
                  <a:srgbClr val="333F4F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200" b="0" i="0">
                <a:solidFill>
                  <a:srgbClr val="333F4F"/>
                </a:solidFill>
                <a:latin typeface="Calibri"/>
              </a:rPr>
              <a:t>Publishes a roadmap, a dependency view, a scenario comparison and a </a:t>
            </a:r>
            <a:r>
              <a:rPr sz="1200" b="1" i="0">
                <a:solidFill>
                  <a:srgbClr val="16283C"/>
                </a:solidFill>
                <a:latin typeface="Calibri"/>
              </a:rPr>
              <a:t>value-realisation plan</a:t>
            </a:r>
            <a:r>
              <a:rPr sz="1200" b="0" i="0">
                <a:solidFill>
                  <a:srgbClr val="333F4F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700016"/>
            <a:ext cx="11057839" cy="1499616"/>
          </a:xfrm>
          <a:prstGeom prst="rect">
            <a:avLst/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901183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3E9AB8"/>
                </a:solidFill>
                <a:latin typeface="Calibri"/>
              </a:rPr>
              <a:t>WHAT THE BOARD 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248655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1" i="0">
                <a:solidFill>
                  <a:srgbClr val="FFFFFF"/>
                </a:solidFill>
                <a:latin typeface="Calibri"/>
              </a:rPr>
              <a:t>What happens first?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55955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9FB6CC"/>
                </a:solidFill>
                <a:latin typeface="Calibri"/>
              </a:rPr>
              <a:t>Sequenced roadmap, nine waves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5248655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1" i="0">
                <a:solidFill>
                  <a:srgbClr val="FFFFFF"/>
                </a:solidFill>
                <a:latin typeface="Calibri"/>
              </a:rPr>
              <a:t>What depends on what?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555955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9FB6CC"/>
                </a:solidFill>
                <a:latin typeface="Calibri"/>
              </a:rPr>
              <a:t>95 links, 80 currently out of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3" y="5248655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1" i="0">
                <a:solidFill>
                  <a:srgbClr val="FFFFFF"/>
                </a:solidFill>
                <a:latin typeface="Calibri"/>
              </a:rPr>
              <a:t>When does value land?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3" y="555955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9FB6CC"/>
                </a:solidFill>
                <a:latin typeface="Calibri"/>
              </a:rPr>
              <a:t>$39.6m run rate by 2027, of $84.3m promised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3E9AB8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From the plans you already have, 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B8C9DA"/>
                </a:solidFill>
                <a:latin typeface="Calibri"/>
              </a:rPr>
              <a:t>No migration, no data project, nothing to re-key — it reads what the organisation has already written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45920"/>
            <a:ext cx="2395728" cy="431596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83664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>
                <a:solidFill>
                  <a:srgbClr val="1B6E8C"/>
                </a:solidFill>
                <a:latin typeface="Calibri"/>
              </a:rPr>
              <a:t>WHAT GOES IN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2377440"/>
            <a:ext cx="274320" cy="274320"/>
          </a:xfrm>
          <a:prstGeom prst="ellipse">
            <a:avLst/>
          </a:prstGeom>
          <a:solidFill>
            <a:srgbClr val="3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359152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>
                <a:solidFill>
                  <a:srgbClr val="16283C"/>
                </a:solidFill>
                <a:latin typeface="Calibri"/>
              </a:rPr>
              <a:t>Trackers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596896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A6674"/>
                </a:solidFill>
                <a:latin typeface="Calibri"/>
              </a:rPr>
              <a:t>The PMO spreadsheet, three date formats and all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264408"/>
            <a:ext cx="274320" cy="274320"/>
          </a:xfrm>
          <a:prstGeom prst="ellipse">
            <a:avLst/>
          </a:prstGeom>
          <a:solidFill>
            <a:srgbClr val="3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246120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>
                <a:solidFill>
                  <a:srgbClr val="16283C"/>
                </a:solidFill>
                <a:latin typeface="Calibri"/>
              </a:rPr>
              <a:t>Business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3483864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A6674"/>
                </a:solidFill>
                <a:latin typeface="Calibri"/>
              </a:rPr>
              <a:t>Cost buried in paragraph four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151376"/>
            <a:ext cx="274320" cy="274320"/>
          </a:xfrm>
          <a:prstGeom prst="ellipse">
            <a:avLst/>
          </a:prstGeom>
          <a:solidFill>
            <a:srgbClr val="3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13308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>
                <a:solidFill>
                  <a:srgbClr val="16283C"/>
                </a:solidFill>
                <a:latin typeface="Calibri"/>
              </a:rPr>
              <a:t>Status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4370832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A6674"/>
                </a:solidFill>
                <a:latin typeface="Calibri"/>
              </a:rPr>
              <a:t>Monthly packs and steering minutes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" y="5038344"/>
            <a:ext cx="274320" cy="274320"/>
          </a:xfrm>
          <a:prstGeom prst="ellipse">
            <a:avLst/>
          </a:prstGeom>
          <a:solidFill>
            <a:srgbClr val="3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5020056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>
                <a:solidFill>
                  <a:srgbClr val="16283C"/>
                </a:solidFill>
                <a:latin typeface="Calibri"/>
              </a:rPr>
              <a:t>Conversations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5257800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A6674"/>
                </a:solidFill>
                <a:latin typeface="Calibri"/>
              </a:rPr>
              <a:t>Teams recaps, owner interviews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1828800"/>
            <a:ext cx="1700784" cy="148132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64992" y="1975104"/>
            <a:ext cx="310896" cy="310896"/>
          </a:xfrm>
          <a:prstGeom prst="ellipse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020824"/>
            <a:ext cx="10424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B6E8C"/>
                </a:solidFill>
                <a:latin typeface="Calibri"/>
              </a:rPr>
              <a:t>COLLECT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2395728"/>
            <a:ext cx="140817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333F4F"/>
                </a:solidFill>
                <a:latin typeface="Calibri"/>
              </a:rPr>
              <a:t>Point it at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333F4F"/>
                </a:solidFill>
                <a:latin typeface="Calibri"/>
              </a:rPr>
              <a:t>SharePoint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10912" y="1828800"/>
            <a:ext cx="1700784" cy="148132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57216" y="1975104"/>
            <a:ext cx="310896" cy="310896"/>
          </a:xfrm>
          <a:prstGeom prst="ellipse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1264" y="2020824"/>
            <a:ext cx="10424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B6E8C"/>
                </a:solidFill>
                <a:latin typeface="Calibri"/>
              </a:rPr>
              <a:t>EXTRACT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2395728"/>
            <a:ext cx="140817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333F4F"/>
                </a:solidFill>
                <a:latin typeface="Calibri"/>
              </a:rPr>
              <a:t>AI reads the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333F4F"/>
                </a:solidFill>
                <a:latin typeface="Calibri"/>
              </a:rPr>
              <a:t>messy documents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03136" y="1828800"/>
            <a:ext cx="1700784" cy="148132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49440" y="1975104"/>
            <a:ext cx="310896" cy="310896"/>
          </a:xfrm>
          <a:prstGeom prst="ellipse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3488" y="2020824"/>
            <a:ext cx="10424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B6E8C"/>
                </a:solidFill>
                <a:latin typeface="Calibri"/>
              </a:rPr>
              <a:t>RECONCILE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395728"/>
            <a:ext cx="140817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333F4F"/>
                </a:solidFill>
                <a:latin typeface="Calibri"/>
              </a:rPr>
              <a:t>Surface the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333F4F"/>
                </a:solidFill>
                <a:latin typeface="Calibri"/>
              </a:rPr>
              <a:t>disagreements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639312"/>
            <a:ext cx="1700784" cy="148132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64992" y="3785615"/>
            <a:ext cx="310896" cy="310896"/>
          </a:xfrm>
          <a:prstGeom prst="ellipse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3831336"/>
            <a:ext cx="10424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B6E8C"/>
                </a:solidFill>
                <a:latin typeface="Calibri"/>
              </a:rPr>
              <a:t>SEQUENCE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4992" y="4206240"/>
            <a:ext cx="140817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333F4F"/>
                </a:solidFill>
                <a:latin typeface="Calibri"/>
              </a:rPr>
              <a:t>Build the graph,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333F4F"/>
                </a:solidFill>
                <a:latin typeface="Calibri"/>
              </a:rPr>
              <a:t>sort it, find breaks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10912" y="3639312"/>
            <a:ext cx="1700784" cy="148132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57216" y="3785615"/>
            <a:ext cx="310896" cy="310896"/>
          </a:xfrm>
          <a:prstGeom prst="ellipse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41264" y="3831336"/>
            <a:ext cx="10424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B6E8C"/>
                </a:solidFill>
                <a:latin typeface="Calibri"/>
              </a:rPr>
              <a:t>COMPARE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57216" y="4206240"/>
            <a:ext cx="140817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333F4F"/>
                </a:solidFill>
                <a:latin typeface="Calibri"/>
              </a:rPr>
              <a:t>Re-run under each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333F4F"/>
                </a:solidFill>
                <a:latin typeface="Calibri"/>
              </a:rPr>
              <a:t>set of constraints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03136" y="3639312"/>
            <a:ext cx="1700784" cy="148132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949440" y="3785615"/>
            <a:ext cx="310896" cy="310896"/>
          </a:xfrm>
          <a:prstGeom prst="ellipse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33488" y="3831336"/>
            <a:ext cx="10424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B6E8C"/>
                </a:solidFill>
                <a:latin typeface="Calibri"/>
              </a:rPr>
              <a:t>PUBLISH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206240"/>
            <a:ext cx="140817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333F4F"/>
                </a:solidFill>
                <a:latin typeface="Calibri"/>
              </a:rPr>
              <a:t>Four views, one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333F4F"/>
                </a:solidFill>
                <a:latin typeface="Calibri"/>
              </a:rPr>
              <a:t>engine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924044" y="2487168"/>
            <a:ext cx="82296" cy="164592"/>
          </a:xfrm>
          <a:prstGeom prst="rightArrow">
            <a:avLst/>
          </a:prstGeom>
          <a:solidFill>
            <a:srgbClr val="3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4924044" y="4297680"/>
            <a:ext cx="82296" cy="164592"/>
          </a:xfrm>
          <a:prstGeom prst="rightArrow">
            <a:avLst/>
          </a:prstGeom>
          <a:solidFill>
            <a:srgbClr val="3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Arrow 45"/>
          <p:cNvSpPr/>
          <p:nvPr/>
        </p:nvSpPr>
        <p:spPr>
          <a:xfrm>
            <a:off x="6716268" y="2487168"/>
            <a:ext cx="82296" cy="164592"/>
          </a:xfrm>
          <a:prstGeom prst="rightArrow">
            <a:avLst/>
          </a:prstGeom>
          <a:solidFill>
            <a:srgbClr val="3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6716268" y="4297680"/>
            <a:ext cx="82296" cy="164592"/>
          </a:xfrm>
          <a:prstGeom prst="rightArrow">
            <a:avLst/>
          </a:prstGeom>
          <a:solidFill>
            <a:srgbClr val="3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18688" y="5303520"/>
            <a:ext cx="5285232" cy="658368"/>
          </a:xfrm>
          <a:prstGeom prst="rect">
            <a:avLst/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19856" y="5449824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 i="0">
                <a:solidFill>
                  <a:srgbClr val="3E9AB8"/>
                </a:solidFill>
                <a:latin typeface="Calibri"/>
              </a:rPr>
              <a:t>Steps 1–3 are AI, and they run offline.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Steps 4–6 are ordinary deterministic code — same answer every time, no model call at demo time.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96528" y="1645920"/>
            <a:ext cx="2825496" cy="431596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15984" y="1883664"/>
            <a:ext cx="23865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>
                <a:solidFill>
                  <a:srgbClr val="1B6E8C"/>
                </a:solidFill>
                <a:latin typeface="Calibri"/>
              </a:rPr>
              <a:t>WHAT COMES OUT</a:t>
            </a:r>
          </a:p>
        </p:txBody>
      </p:sp>
      <p:sp>
        <p:nvSpPr>
          <p:cNvPr id="52" name="Oval 51"/>
          <p:cNvSpPr/>
          <p:nvPr/>
        </p:nvSpPr>
        <p:spPr>
          <a:xfrm>
            <a:off x="9015984" y="2377440"/>
            <a:ext cx="274320" cy="274320"/>
          </a:xfrm>
          <a:prstGeom prst="ellipse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81744" y="2359152"/>
            <a:ext cx="2002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>
                <a:solidFill>
                  <a:srgbClr val="16283C"/>
                </a:solidFill>
                <a:latin typeface="Calibri"/>
              </a:rPr>
              <a:t>Sequenced roadmap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81744" y="2596896"/>
            <a:ext cx="20025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A6674"/>
                </a:solidFill>
                <a:latin typeface="Calibri"/>
              </a:rPr>
              <a:t>60 initiatives, nine waves</a:t>
            </a:r>
          </a:p>
        </p:txBody>
      </p:sp>
      <p:sp>
        <p:nvSpPr>
          <p:cNvPr id="55" name="Oval 54"/>
          <p:cNvSpPr/>
          <p:nvPr/>
        </p:nvSpPr>
        <p:spPr>
          <a:xfrm>
            <a:off x="9015984" y="3264408"/>
            <a:ext cx="274320" cy="274320"/>
          </a:xfrm>
          <a:prstGeom prst="ellipse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81744" y="3246120"/>
            <a:ext cx="2002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>
                <a:solidFill>
                  <a:srgbClr val="16283C"/>
                </a:solidFill>
                <a:latin typeface="Calibri"/>
              </a:rPr>
              <a:t>Dependency view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81744" y="3483864"/>
            <a:ext cx="20025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A6674"/>
                </a:solidFill>
                <a:latin typeface="Calibri"/>
              </a:rPr>
              <a:t>95 links, click to trace</a:t>
            </a:r>
          </a:p>
        </p:txBody>
      </p:sp>
      <p:sp>
        <p:nvSpPr>
          <p:cNvPr id="58" name="Oval 57"/>
          <p:cNvSpPr/>
          <p:nvPr/>
        </p:nvSpPr>
        <p:spPr>
          <a:xfrm>
            <a:off x="9015984" y="4151376"/>
            <a:ext cx="274320" cy="274320"/>
          </a:xfrm>
          <a:prstGeom prst="ellipse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81744" y="4133088"/>
            <a:ext cx="2002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>
                <a:solidFill>
                  <a:srgbClr val="16283C"/>
                </a:solidFill>
                <a:latin typeface="Calibri"/>
              </a:rPr>
              <a:t>Scenario comparison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81744" y="4370832"/>
            <a:ext cx="20025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A6674"/>
                </a:solidFill>
                <a:latin typeface="Calibri"/>
              </a:rPr>
              <a:t>Three funding options priced</a:t>
            </a:r>
          </a:p>
        </p:txBody>
      </p:sp>
      <p:sp>
        <p:nvSpPr>
          <p:cNvPr id="61" name="Oval 60"/>
          <p:cNvSpPr/>
          <p:nvPr/>
        </p:nvSpPr>
        <p:spPr>
          <a:xfrm>
            <a:off x="9015984" y="5038344"/>
            <a:ext cx="274320" cy="274320"/>
          </a:xfrm>
          <a:prstGeom prst="ellipse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81744" y="5020056"/>
            <a:ext cx="2002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>
                <a:solidFill>
                  <a:srgbClr val="16283C"/>
                </a:solidFill>
                <a:latin typeface="Calibri"/>
              </a:rPr>
              <a:t>Value-realisation plan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81744" y="5257800"/>
            <a:ext cx="20025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A6674"/>
                </a:solidFill>
                <a:latin typeface="Calibri"/>
              </a:rPr>
              <a:t>When benefit reaches the P&amp;L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3E9AB8"/>
                </a:solidFill>
                <a:latin typeface="Calibri"/>
              </a:rPr>
              <a:t>VALUE TO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Priced trade-offs, not a status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B8C9DA"/>
                </a:solidFill>
                <a:latin typeface="Calibri"/>
              </a:rPr>
              <a:t>Every number below is computed from the client's own data and reproducible on demand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4882896" cy="1920240"/>
          </a:xfrm>
          <a:prstGeom prst="rect">
            <a:avLst/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47088"/>
            <a:ext cx="4334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3E9AB8"/>
                </a:solidFill>
                <a:latin typeface="Calibri"/>
              </a:rPr>
              <a:t>THE DECISION A SPREADSHEET GETS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43342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300" b="1" i="0">
                <a:solidFill>
                  <a:srgbClr val="FFFFFF"/>
                </a:solidFill>
                <a:latin typeface="Calibri"/>
              </a:rPr>
              <a:t>$895k</a:t>
            </a:r>
            <a:r>
              <a:rPr sz="1500" b="0" i="0">
                <a:solidFill>
                  <a:srgbClr val="9FB6CC"/>
                </a:solidFill>
                <a:latin typeface="Calibri"/>
              </a:rPr>
              <a:t>  unlocks  </a:t>
            </a:r>
            <a:r>
              <a:rPr sz="3300" b="1" i="0">
                <a:solidFill>
                  <a:srgbClr val="3E9AB8"/>
                </a:solidFill>
                <a:latin typeface="Calibri"/>
              </a:rPr>
              <a:t>$38.6m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98064"/>
            <a:ext cx="433425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C8D6E4"/>
                </a:solidFill>
                <a:latin typeface="Calibri"/>
              </a:rPr>
              <a:t>The Enterprise Data Platform returns $70k a year on its own — last of 60. It holds up 28 initiatives carrying $38.6m. </a:t>
            </a:r>
            <a:r>
              <a:rPr sz="1150" b="1" i="0">
                <a:solidFill>
                  <a:srgbClr val="FFFFFF"/>
                </a:solidFill>
                <a:latin typeface="Calibri"/>
              </a:rPr>
              <a:t>A 43× return any cost exercise would have cut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05856" y="1627632"/>
            <a:ext cx="5916168" cy="19202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61888" y="1847088"/>
            <a:ext cx="54041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>
                <a:solidFill>
                  <a:srgbClr val="1B6E8C"/>
                </a:solidFill>
                <a:latin typeface="Calibri"/>
              </a:rPr>
              <a:t>THE CONSTRAINTS IT PRICES</a:t>
            </a:r>
          </a:p>
        </p:txBody>
      </p:sp>
      <p:sp>
        <p:nvSpPr>
          <p:cNvPr id="12" name="Oval 11"/>
          <p:cNvSpPr/>
          <p:nvPr/>
        </p:nvSpPr>
        <p:spPr>
          <a:xfrm>
            <a:off x="5961888" y="2231136"/>
            <a:ext cx="237744" cy="237744"/>
          </a:xfrm>
          <a:prstGeom prst="ellipse">
            <a:avLst/>
          </a:prstGeom>
          <a:solidFill>
            <a:srgbClr val="3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2219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6283C"/>
                </a:solidFill>
                <a:latin typeface="Calibri"/>
              </a:rPr>
              <a:t>Money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221992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333F4F"/>
                </a:solidFill>
                <a:latin typeface="Calibri"/>
              </a:rPr>
              <a:t>$95.3m approved, $101.7m forecast — $6.4m over</a:t>
            </a:r>
          </a:p>
        </p:txBody>
      </p:sp>
      <p:sp>
        <p:nvSpPr>
          <p:cNvPr id="15" name="Oval 14"/>
          <p:cNvSpPr/>
          <p:nvPr/>
        </p:nvSpPr>
        <p:spPr>
          <a:xfrm>
            <a:off x="5961888" y="2569464"/>
            <a:ext cx="237744" cy="237744"/>
          </a:xfrm>
          <a:prstGeom prst="ellipse">
            <a:avLst/>
          </a:prstGeom>
          <a:solidFill>
            <a:srgbClr val="3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56032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6283C"/>
                </a:solidFill>
                <a:latin typeface="Calibri"/>
              </a:rPr>
              <a:t>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56032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333F4F"/>
                </a:solidFill>
                <a:latin typeface="Calibri"/>
              </a:rPr>
              <a:t>3 roles oversubscribed, peaking at 155%</a:t>
            </a:r>
          </a:p>
        </p:txBody>
      </p:sp>
      <p:sp>
        <p:nvSpPr>
          <p:cNvPr id="18" name="Oval 17"/>
          <p:cNvSpPr/>
          <p:nvPr/>
        </p:nvSpPr>
        <p:spPr>
          <a:xfrm>
            <a:off x="5961888" y="2907791"/>
            <a:ext cx="237744" cy="237744"/>
          </a:xfrm>
          <a:prstGeom prst="ellipse">
            <a:avLst/>
          </a:prstGeom>
          <a:solidFill>
            <a:srgbClr val="3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89864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6283C"/>
                </a:solidFill>
                <a:latin typeface="Calibri"/>
              </a:rPr>
              <a:t>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898648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333F4F"/>
                </a:solidFill>
                <a:latin typeface="Calibri"/>
              </a:rPr>
              <a:t>Every scenario finishes after its own deadline</a:t>
            </a:r>
          </a:p>
        </p:txBody>
      </p:sp>
      <p:sp>
        <p:nvSpPr>
          <p:cNvPr id="21" name="Oval 20"/>
          <p:cNvSpPr/>
          <p:nvPr/>
        </p:nvSpPr>
        <p:spPr>
          <a:xfrm>
            <a:off x="5961888" y="3246120"/>
            <a:ext cx="237744" cy="237744"/>
          </a:xfrm>
          <a:prstGeom prst="ellipse">
            <a:avLst/>
          </a:prstGeom>
          <a:solidFill>
            <a:srgbClr val="3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2369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6283C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236976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333F4F"/>
                </a:solidFill>
                <a:latin typeface="Calibri"/>
              </a:rPr>
              <a:t>8 initiatives locked — never cut to meet a cap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3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>
                <a:solidFill>
                  <a:srgbClr val="1B6E8C"/>
                </a:solidFill>
                <a:latin typeface="Calibri"/>
              </a:rPr>
              <a:t>HOW THE BOARD USES IT — THREE OPTIONS, SAME 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041648"/>
            <a:ext cx="11055096" cy="310896"/>
          </a:xfrm>
          <a:prstGeom prst="rect">
            <a:avLst/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096511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 i="0">
                <a:solidFill>
                  <a:srgbClr val="3E9AB8"/>
                </a:solidFill>
                <a:latin typeface="Calibri"/>
              </a:rPr>
              <a:t>MEASURE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4096511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7184" y="4096511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Calibri"/>
              </a:rPr>
              <a:t>CASH-CONSTRAINED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4096511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Calibri"/>
              </a:rPr>
              <a:t>SPEED TO 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352544"/>
            <a:ext cx="11055096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45312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6283C"/>
                </a:solidFill>
                <a:latin typeface="Calibri"/>
              </a:rPr>
              <a:t>Initiatives funded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31536" y="4443983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333F4F"/>
                </a:solidFill>
                <a:latin typeface="Calibri"/>
              </a:rPr>
              <a:t>60 of 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4" y="4443983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333F4F"/>
                </a:solidFill>
                <a:latin typeface="Calibri"/>
              </a:rPr>
              <a:t>49 of 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6528" y="4443983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333F4F"/>
                </a:solidFill>
                <a:latin typeface="Calibri"/>
              </a:rPr>
              <a:t>54 of 60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481888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6283C"/>
                </a:solidFill>
                <a:latin typeface="Calibri"/>
              </a:rPr>
              <a:t>Total spend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1536" y="480974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333F4F"/>
                </a:solidFill>
                <a:latin typeface="Calibri"/>
              </a:rPr>
              <a:t>$95.3m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7184" y="480974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333F4F"/>
                </a:solidFill>
                <a:latin typeface="Calibri"/>
              </a:rPr>
              <a:t>$79.4m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8" y="480974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333F4F"/>
                </a:solidFill>
                <a:latin typeface="Calibri"/>
              </a:rPr>
              <a:t>$85.0m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5084064"/>
            <a:ext cx="11055096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18464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6283C"/>
                </a:solidFill>
                <a:latin typeface="Calibri"/>
              </a:rPr>
              <a:t>Out of order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31536" y="5175503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B91C1C"/>
                </a:solidFill>
                <a:latin typeface="Calibri"/>
              </a:rPr>
              <a:t>80 — 33 unfixable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87184" y="5175503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5803D"/>
                </a:solidFill>
                <a:latin typeface="Calibri"/>
              </a:rPr>
              <a:t>21 — none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96528" y="5175503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5803D"/>
                </a:solidFill>
                <a:latin typeface="Calibri"/>
              </a:rPr>
              <a:t>26 — none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" y="555040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6283C"/>
                </a:solidFill>
                <a:latin typeface="Calibri"/>
              </a:rPr>
              <a:t>Regulatory breaches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31536" y="554126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B45309"/>
                </a:solidFill>
                <a:latin typeface="Calibr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87184" y="554126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B91C1C"/>
                </a:solidFill>
                <a:latin typeface="Calibr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96528" y="554126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B91C1C"/>
                </a:solidFill>
                <a:latin typeface="Calibri"/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815583"/>
            <a:ext cx="11055096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" y="59161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16283C"/>
                </a:solidFill>
                <a:latin typeface="Calibri"/>
              </a:rPr>
              <a:t>Finishes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31536" y="5907023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B45309"/>
                </a:solidFill>
                <a:latin typeface="Calibri"/>
              </a:rPr>
              <a:t>Feb 2029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87184" y="5907023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B91C1C"/>
                </a:solidFill>
                <a:latin typeface="Calibri"/>
              </a:rPr>
              <a:t>Dec 2030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96528" y="5907023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 i="0">
                <a:solidFill>
                  <a:srgbClr val="B91C1C"/>
                </a:solidFill>
                <a:latin typeface="Calibri"/>
              </a:rPr>
              <a:t>Dec 2030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272783"/>
            <a:ext cx="11055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 i="0">
                <a:solidFill>
                  <a:srgbClr val="333F4F"/>
                </a:solidFill>
                <a:latin typeface="Calibri"/>
              </a:rPr>
              <a:t>Every option finishes late, and the two that fix the sequence do it by delaying regulatory work. </a:t>
            </a:r>
            <a:r>
              <a:rPr sz="1200" b="1" i="0">
                <a:solidFill>
                  <a:srgbClr val="16283C"/>
                </a:solidFill>
                <a:latin typeface="Calibri"/>
              </a:rPr>
              <a:t>That is the trade-off the board is actually being asked to make.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