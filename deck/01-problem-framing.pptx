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Transformation Roadmap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Turning 60 inherited initiatives, $95.3m of spend and 95 tangled dependencies into a sequenced, board-ready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1.  THE CHALLENGE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new leader inherits </a:t>
            </a:r>
            <a:r>
              <a:rPr sz="1250" b="1">
                <a:solidFill>
                  <a:srgbClr val="16283C"/>
                </a:solidFill>
                <a:latin typeface="Calibri"/>
              </a:rPr>
              <a:t>60 initiatives</a:t>
            </a:r>
            <a:r>
              <a:rPr sz="1250" b="0">
                <a:solidFill>
                  <a:srgbClr val="333F4F"/>
                </a:solidFill>
                <a:latin typeface="Calibri"/>
              </a:rPr>
              <a:t> across </a:t>
            </a:r>
            <a:r>
              <a:rPr sz="1250" b="1">
                <a:solidFill>
                  <a:srgbClr val="16283C"/>
                </a:solidFill>
                <a:latin typeface="Calibri"/>
              </a:rPr>
              <a:t>8 functions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no integrated roadmap, no agreed priorities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$95.3m</a:t>
            </a:r>
            <a:r>
              <a:rPr sz="1250" b="0">
                <a:solidFill>
                  <a:srgbClr val="333F4F"/>
                </a:solidFill>
                <a:latin typeface="Calibri"/>
              </a:rPr>
              <a:t> approved, forecasting </a:t>
            </a:r>
            <a:r>
              <a:rPr sz="1250" b="1">
                <a:solidFill>
                  <a:srgbClr val="16283C"/>
                </a:solidFill>
                <a:latin typeface="Calibri"/>
              </a:rPr>
              <a:t>$101.7m</a:t>
            </a:r>
            <a:r>
              <a:rPr sz="1250" b="0">
                <a:solidFill>
                  <a:srgbClr val="333F4F"/>
                </a:solidFill>
                <a:latin typeface="Calibri"/>
              </a:rPr>
              <a:t>; </a:t>
            </a:r>
            <a:r>
              <a:rPr sz="1250" b="1">
                <a:solidFill>
                  <a:srgbClr val="16283C"/>
                </a:solidFill>
                <a:latin typeface="Calibri"/>
              </a:rPr>
              <a:t>$84.3m</a:t>
            </a:r>
            <a:r>
              <a:rPr sz="1250" b="0">
                <a:solidFill>
                  <a:srgbClr val="333F4F"/>
                </a:solidFill>
                <a:latin typeface="Calibri"/>
              </a:rPr>
              <a:t> claimed annual benefit, </a:t>
            </a:r>
            <a:r>
              <a:rPr sz="1250" b="1">
                <a:solidFill>
                  <a:srgbClr val="16283C"/>
                </a:solidFill>
                <a:latin typeface="Calibri"/>
              </a:rPr>
              <a:t>~$0.5k</a:t>
            </a:r>
            <a:r>
              <a:rPr sz="1250" b="0">
                <a:solidFill>
                  <a:srgbClr val="333F4F"/>
                </a:solidFill>
                <a:latin typeface="Calibri"/>
              </a:rPr>
              <a:t> banked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95</a:t>
            </a:r>
            <a:r>
              <a:rPr sz="1250" b="0">
                <a:solidFill>
                  <a:srgbClr val="333F4F"/>
                </a:solidFill>
                <a:latin typeface="Calibri"/>
              </a:rPr>
              <a:t> dependencies, </a:t>
            </a:r>
            <a:r>
              <a:rPr sz="1250" b="1">
                <a:solidFill>
                  <a:srgbClr val="16283C"/>
                </a:solidFill>
                <a:latin typeface="Calibri"/>
              </a:rPr>
              <a:t>70</a:t>
            </a:r>
            <a:r>
              <a:rPr sz="1250" b="0">
                <a:solidFill>
                  <a:srgbClr val="333F4F"/>
                </a:solidFill>
                <a:latin typeface="Calibri"/>
              </a:rPr>
              <a:t> cross-function, in nobody's plan —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violated by up to </a:t>
            </a:r>
            <a:r>
              <a:rPr sz="1250" b="1">
                <a:solidFill>
                  <a:srgbClr val="16283C"/>
                </a:solidFill>
                <a:latin typeface="Calibri"/>
              </a:rPr>
              <a:t>716 days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"What happens first, and when does value land?" takes </a:t>
            </a:r>
            <a:r>
              <a:rPr sz="1250" b="1">
                <a:solidFill>
                  <a:srgbClr val="16283C"/>
                </a:solidFill>
                <a:latin typeface="Calibri"/>
              </a:rPr>
              <a:t>weeks</a:t>
            </a:r>
            <a:r>
              <a:rPr sz="1250" b="0">
                <a:solidFill>
                  <a:srgbClr val="333F4F"/>
                </a:solidFill>
                <a:latin typeface="Calibri"/>
              </a:rPr>
              <a:t> of PMO work — and arrives stale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1481328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7648" y="1481328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09344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2.  TARGET USER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Primary: the Chief Transformation Officer</a:t>
            </a:r>
            <a:r>
              <a:rPr sz="1250" b="0">
                <a:solidFill>
                  <a:srgbClr val="333F4F"/>
                </a:solidFill>
                <a:latin typeface="Calibri"/>
              </a:rPr>
              <a:t>, first 90 days, owing the board a credible plan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the PMO lead</a:t>
            </a:r>
            <a:r>
              <a:rPr sz="1250" b="0">
                <a:solidFill>
                  <a:srgbClr val="333F4F"/>
                </a:solidFill>
                <a:latin typeface="Calibri"/>
              </a:rPr>
              <a:t> who maintains it across </a:t>
            </a:r>
            <a:r>
              <a:rPr sz="1250" b="1">
                <a:solidFill>
                  <a:srgbClr val="16283C"/>
                </a:solidFill>
                <a:latin typeface="Calibri"/>
              </a:rPr>
              <a:t>8</a:t>
            </a:r>
            <a:r>
              <a:rPr sz="1250" b="0">
                <a:solidFill>
                  <a:srgbClr val="333F4F"/>
                </a:solidFill>
                <a:latin typeface="Calibri"/>
              </a:rPr>
              <a:t> business cases and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monthly reports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the CFO</a:t>
            </a:r>
            <a:r>
              <a:rPr sz="1250" b="0">
                <a:solidFill>
                  <a:srgbClr val="333F4F"/>
                </a:solidFill>
                <a:latin typeface="Calibri"/>
              </a:rPr>
              <a:t>, who consumes the value view and defends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$84.3m</a:t>
            </a:r>
            <a:r>
              <a:rPr sz="1250" b="0">
                <a:solidFill>
                  <a:srgbClr val="333F4F"/>
                </a:solidFill>
                <a:latin typeface="Calibri"/>
              </a:rPr>
              <a:t> benefit baseline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Not "executives": one named owner, a monthly board cycle, accountable for the number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87952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87952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15968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3.  THE WORKFLOW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In:</a:t>
            </a:r>
            <a:r>
              <a:rPr sz="1250" b="0">
                <a:solidFill>
                  <a:srgbClr val="333F4F"/>
                </a:solidFill>
                <a:latin typeface="Calibri"/>
              </a:rPr>
              <a:t> the plans that exist — business cases, PMO reports, steering minutes, the master tracker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Normalise:</a:t>
            </a:r>
            <a:r>
              <a:rPr sz="1250" b="0">
                <a:solidFill>
                  <a:srgbClr val="333F4F"/>
                </a:solidFill>
                <a:latin typeface="Calibri"/>
              </a:rPr>
              <a:t> initiatives, cost, dates, dependencies —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date formats, </a:t>
            </a:r>
            <a:r>
              <a:rPr sz="1250" b="1">
                <a:solidFill>
                  <a:srgbClr val="16283C"/>
                </a:solidFill>
                <a:latin typeface="Calibri"/>
              </a:rPr>
              <a:t>6</a:t>
            </a:r>
            <a:r>
              <a:rPr sz="1250" b="0">
                <a:solidFill>
                  <a:srgbClr val="333F4F"/>
                </a:solidFill>
                <a:latin typeface="Calibri"/>
              </a:rPr>
              <a:t> budget formats, duplicates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Challenge:</a:t>
            </a:r>
            <a:r>
              <a:rPr sz="1250" b="0">
                <a:solidFill>
                  <a:srgbClr val="333F4F"/>
                </a:solidFill>
                <a:latin typeface="Calibri"/>
              </a:rPr>
              <a:t>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716-day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violation, </a:t>
            </a:r>
            <a:r>
              <a:rPr sz="1250" b="1">
                <a:solidFill>
                  <a:srgbClr val="16283C"/>
                </a:solidFill>
                <a:latin typeface="Calibri"/>
              </a:rPr>
              <a:t>5</a:t>
            </a:r>
            <a:r>
              <a:rPr sz="1250" b="0">
                <a:solidFill>
                  <a:srgbClr val="333F4F"/>
                </a:solidFill>
                <a:latin typeface="Calibri"/>
              </a:rPr>
              <a:t> report-vs-data contradictions, </a:t>
            </a:r>
            <a:r>
              <a:rPr sz="1250" b="1">
                <a:solidFill>
                  <a:srgbClr val="16283C"/>
                </a:solidFill>
                <a:latin typeface="Calibri"/>
              </a:rPr>
              <a:t>1</a:t>
            </a:r>
            <a:r>
              <a:rPr sz="1250" b="0">
                <a:solidFill>
                  <a:srgbClr val="333F4F"/>
                </a:solidFill>
                <a:latin typeface="Calibri"/>
              </a:rPr>
              <a:t> phantom initiative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Out:</a:t>
            </a:r>
            <a:r>
              <a:rPr sz="1250" b="0">
                <a:solidFill>
                  <a:srgbClr val="333F4F"/>
                </a:solidFill>
                <a:latin typeface="Calibri"/>
              </a:rPr>
              <a:t> sequenced roadmap + dependency view →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scenarios compared → value-realization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4187952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4187952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315968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4.  BUSINESS VALUE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Weeks of PMO analysis → minutes</a:t>
            </a:r>
            <a:r>
              <a:rPr sz="1250" b="0">
                <a:solidFill>
                  <a:srgbClr val="333F4F"/>
                </a:solidFill>
                <a:latin typeface="Calibri"/>
              </a:rPr>
              <a:t>, rebuilt on every status report, not once a quarter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Finds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70</a:t>
            </a:r>
            <a:r>
              <a:rPr sz="1250" b="0">
                <a:solidFill>
                  <a:srgbClr val="333F4F"/>
                </a:solidFill>
                <a:latin typeface="Calibri"/>
              </a:rPr>
              <a:t> cross-function edges manual planning misses — an </a:t>
            </a:r>
            <a:r>
              <a:rPr sz="1250" b="1">
                <a:solidFill>
                  <a:srgbClr val="16283C"/>
                </a:solidFill>
                <a:latin typeface="Calibri"/>
              </a:rPr>
              <a:t>$895k</a:t>
            </a:r>
            <a:r>
              <a:rPr sz="1250" b="0">
                <a:solidFill>
                  <a:srgbClr val="333F4F"/>
                </a:solidFill>
                <a:latin typeface="Calibri"/>
              </a:rPr>
              <a:t> enabler gates </a:t>
            </a:r>
            <a:r>
              <a:rPr sz="1250" b="1">
                <a:solidFill>
                  <a:srgbClr val="16283C"/>
                </a:solidFill>
                <a:latin typeface="Calibri"/>
              </a:rPr>
              <a:t>$38.6m/yr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Flags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violations, </a:t>
            </a:r>
            <a:r>
              <a:rPr sz="1250" b="1">
                <a:solidFill>
                  <a:srgbClr val="16283C"/>
                </a:solidFill>
                <a:latin typeface="Calibri"/>
              </a:rPr>
              <a:t>164</a:t>
            </a:r>
            <a:r>
              <a:rPr sz="1250" b="0">
                <a:solidFill>
                  <a:srgbClr val="333F4F"/>
                </a:solidFill>
                <a:latin typeface="Calibri"/>
              </a:rPr>
              <a:t> slipping milestones,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roles at </a:t>
            </a:r>
            <a:r>
              <a:rPr sz="1250" b="1">
                <a:solidFill>
                  <a:srgbClr val="16283C"/>
                </a:solidFill>
                <a:latin typeface="Calibri"/>
              </a:rPr>
              <a:t>155%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before the board commits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Prices the real choice: </a:t>
            </a:r>
            <a:r>
              <a:rPr sz="1250" b="1">
                <a:solidFill>
                  <a:srgbClr val="16283C"/>
                </a:solidFill>
                <a:latin typeface="Calibri"/>
              </a:rPr>
              <a:t>−25% capex (−$8.3m)</a:t>
            </a:r>
            <a:r>
              <a:rPr sz="1250" b="0">
                <a:solidFill>
                  <a:srgbClr val="333F4F"/>
                </a:solidFill>
                <a:latin typeface="Calibri"/>
              </a:rPr>
              <a:t> vs speed-to-value, with </a:t>
            </a:r>
            <a:r>
              <a:rPr sz="1250" b="1">
                <a:solidFill>
                  <a:srgbClr val="16283C"/>
                </a:solidFill>
                <a:latin typeface="Calibri"/>
              </a:rPr>
              <a:t>$10.4m</a:t>
            </a:r>
            <a:r>
              <a:rPr sz="1250" b="0">
                <a:solidFill>
                  <a:srgbClr val="333F4F"/>
                </a:solidFill>
                <a:latin typeface="Calibri"/>
              </a:rPr>
              <a:t> of deferrals costed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