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Transformation Roadmap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Turning 60 inherited initiatives, $95.3m of spend and 95 tangled dependencies into a sequenced, board-ready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07008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1.  THE CHALLENGE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new leader inherits </a:t>
            </a:r>
            <a:r>
              <a:rPr sz="1250" b="1">
                <a:solidFill>
                  <a:srgbClr val="16283C"/>
                </a:solidFill>
                <a:latin typeface="Calibri"/>
              </a:rPr>
              <a:t>60 initiatives</a:t>
            </a:r>
            <a:r>
              <a:rPr sz="1250" b="0">
                <a:solidFill>
                  <a:srgbClr val="333F4F"/>
                </a:solidFill>
                <a:latin typeface="Calibri"/>
              </a:rPr>
              <a:t>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 functions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no integrated roadmap, no agreed priorities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$95.3m</a:t>
            </a:r>
            <a:r>
              <a:rPr sz="1250" b="0">
                <a:solidFill>
                  <a:srgbClr val="333F4F"/>
                </a:solidFill>
                <a:latin typeface="Calibri"/>
              </a:rPr>
              <a:t> approved, forecasting </a:t>
            </a:r>
            <a:r>
              <a:rPr sz="1250" b="1">
                <a:solidFill>
                  <a:srgbClr val="16283C"/>
                </a:solidFill>
                <a:latin typeface="Calibri"/>
              </a:rPr>
              <a:t>$101.7m</a:t>
            </a:r>
            <a:r>
              <a:rPr sz="1250" b="0">
                <a:solidFill>
                  <a:srgbClr val="333F4F"/>
                </a:solidFill>
                <a:latin typeface="Calibri"/>
              </a:rPr>
              <a:t>;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promised vs a </a:t>
            </a:r>
            <a:r>
              <a:rPr sz="1250" b="1">
                <a:solidFill>
                  <a:srgbClr val="16283C"/>
                </a:solidFill>
                <a:latin typeface="Calibri"/>
              </a:rPr>
              <a:t>$39.6m</a:t>
            </a:r>
            <a:r>
              <a:rPr sz="1250" b="0">
                <a:solidFill>
                  <a:srgbClr val="333F4F"/>
                </a:solidFill>
                <a:latin typeface="Calibri"/>
              </a:rPr>
              <a:t> run-rate scheduled by end-2027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47%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95</a:t>
            </a:r>
            <a:r>
              <a:rPr sz="1250" b="0">
                <a:solidFill>
                  <a:srgbClr val="333F4F"/>
                </a:solidFill>
                <a:latin typeface="Calibri"/>
              </a:rPr>
              <a:t> dependencies,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cross-function, in nobody's plan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violated by up to </a:t>
            </a:r>
            <a:r>
              <a:rPr sz="1250" b="1">
                <a:solidFill>
                  <a:srgbClr val="16283C"/>
                </a:solidFill>
                <a:latin typeface="Calibri"/>
              </a:rPr>
              <a:t>716 days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"What happens first, and when does value land?" takes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</a:t>
            </a:r>
            <a:r>
              <a:rPr sz="1250" b="0">
                <a:solidFill>
                  <a:srgbClr val="333F4F"/>
                </a:solidFill>
                <a:latin typeface="Calibri"/>
              </a:rPr>
              <a:t> of PMO work — and arrives stale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7648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27648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2.  TARGET USER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Primary: the Chief Transformation Officer</a:t>
            </a:r>
            <a:r>
              <a:rPr sz="1250" b="0">
                <a:solidFill>
                  <a:srgbClr val="333F4F"/>
                </a:solidFill>
                <a:latin typeface="Calibri"/>
              </a:rPr>
              <a:t>, first 90 days, owing the board a credible plan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PMO lead</a:t>
            </a:r>
            <a:r>
              <a:rPr sz="1250" b="0">
                <a:solidFill>
                  <a:srgbClr val="333F4F"/>
                </a:solidFill>
                <a:latin typeface="Calibri"/>
              </a:rPr>
              <a:t> who maintains it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</a:t>
            </a:r>
            <a:r>
              <a:rPr sz="1250" b="0">
                <a:solidFill>
                  <a:srgbClr val="333F4F"/>
                </a:solidFill>
                <a:latin typeface="Calibri"/>
              </a:rPr>
              <a:t> business cases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monthly reports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CFO</a:t>
            </a:r>
            <a:r>
              <a:rPr sz="1250" b="0">
                <a:solidFill>
                  <a:srgbClr val="333F4F"/>
                </a:solidFill>
                <a:latin typeface="Calibri"/>
              </a:rPr>
              <a:t>, who consumes the value view and defends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benefit baseline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Not "executives": one named owner, a monthly board cycle, accountable for the number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3.  THE WORKFLOW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In: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plans that exist — business cases, PMO reports, steering minutes, the master tracker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Normalise:</a:t>
            </a:r>
            <a:r>
              <a:rPr sz="1250" b="0">
                <a:solidFill>
                  <a:srgbClr val="333F4F"/>
                </a:solidFill>
                <a:latin typeface="Calibri"/>
              </a:rPr>
              <a:t> initiatives, cost, dates, dependencies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date formats, </a:t>
            </a:r>
            <a:r>
              <a:rPr sz="1250" b="1">
                <a:solidFill>
                  <a:srgbClr val="16283C"/>
                </a:solidFill>
                <a:latin typeface="Calibri"/>
              </a:rPr>
              <a:t>6</a:t>
            </a:r>
            <a:r>
              <a:rPr sz="1250" b="0">
                <a:solidFill>
                  <a:srgbClr val="333F4F"/>
                </a:solidFill>
                <a:latin typeface="Calibri"/>
              </a:rPr>
              <a:t> budget formats, duplicates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Challenge: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716-day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violation, </a:t>
            </a:r>
            <a:r>
              <a:rPr sz="1250" b="1">
                <a:solidFill>
                  <a:srgbClr val="16283C"/>
                </a:solidFill>
                <a:latin typeface="Calibri"/>
              </a:rPr>
              <a:t>5</a:t>
            </a:r>
            <a:r>
              <a:rPr sz="1250" b="0">
                <a:solidFill>
                  <a:srgbClr val="333F4F"/>
                </a:solidFill>
                <a:latin typeface="Calibri"/>
              </a:rPr>
              <a:t> report-vs-data contradictions,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</a:t>
            </a:r>
            <a:r>
              <a:rPr sz="1250" b="0">
                <a:solidFill>
                  <a:srgbClr val="333F4F"/>
                </a:solidFill>
                <a:latin typeface="Calibri"/>
              </a:rPr>
              <a:t> phantom initiative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Out:</a:t>
            </a:r>
            <a:r>
              <a:rPr sz="1250" b="0">
                <a:solidFill>
                  <a:srgbClr val="333F4F"/>
                </a:solidFill>
                <a:latin typeface="Calibri"/>
              </a:rPr>
              <a:t> sequenced roadmap + dependency view →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scenarios compared → value-realization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4.  BUSINESS VALUE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 of PMO analysis →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rebuilt on every status report, not once a quarter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Finds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 edges manual planning misses — an </a:t>
            </a:r>
            <a:r>
              <a:rPr sz="1250" b="1">
                <a:solidFill>
                  <a:srgbClr val="16283C"/>
                </a:solidFill>
                <a:latin typeface="Calibri"/>
              </a:rPr>
              <a:t>$895k</a:t>
            </a:r>
            <a:r>
              <a:rPr sz="1250" b="0">
                <a:solidFill>
                  <a:srgbClr val="333F4F"/>
                </a:solidFill>
                <a:latin typeface="Calibri"/>
              </a:rPr>
              <a:t> enabler gates </a:t>
            </a:r>
            <a:r>
              <a:rPr sz="1250" b="1">
                <a:solidFill>
                  <a:srgbClr val="16283C"/>
                </a:solidFill>
                <a:latin typeface="Calibri"/>
              </a:rPr>
              <a:t>$38.6m/yr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Flags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164</a:t>
            </a:r>
            <a:r>
              <a:rPr sz="1250" b="0">
                <a:solidFill>
                  <a:srgbClr val="333F4F"/>
                </a:solidFill>
                <a:latin typeface="Calibri"/>
              </a:rPr>
              <a:t> slipping milestones,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roles at </a:t>
            </a:r>
            <a:r>
              <a:rPr sz="1250" b="1">
                <a:solidFill>
                  <a:srgbClr val="16283C"/>
                </a:solidFill>
                <a:latin typeface="Calibri"/>
              </a:rPr>
              <a:t>155%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before the board commits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Prices the real choice: </a:t>
            </a:r>
            <a:r>
              <a:rPr sz="1250" b="1">
                <a:solidFill>
                  <a:srgbClr val="16283C"/>
                </a:solidFill>
                <a:latin typeface="Calibri"/>
              </a:rPr>
              <a:t>−25% capex (−$8.3m)</a:t>
            </a:r>
            <a:r>
              <a:rPr sz="1250" b="0">
                <a:solidFill>
                  <a:srgbClr val="333F4F"/>
                </a:solidFill>
                <a:latin typeface="Calibri"/>
              </a:rPr>
              <a:t> vs speed-to-value, with </a:t>
            </a:r>
            <a:r>
              <a:rPr sz="1250" b="1">
                <a:solidFill>
                  <a:srgbClr val="16283C"/>
                </a:solidFill>
                <a:latin typeface="Calibri"/>
              </a:rPr>
              <a:t>$10.4m</a:t>
            </a:r>
            <a:r>
              <a:rPr sz="1250" b="0">
                <a:solidFill>
                  <a:srgbClr val="333F4F"/>
                </a:solidFill>
                <a:latin typeface="Calibri"/>
              </a:rPr>
              <a:t> of deferrals costed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THE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What we built: the Transformation Roadmap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One browser page that turns the client's existing plans into a sequenced, defensible roadmap — no backend, no live model call.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60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initiatives normalized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100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95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dependencies resolved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3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views, one click apart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6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456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0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runtime model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87168"/>
            <a:ext cx="5605272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487168"/>
            <a:ext cx="57150" cy="19202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15184"/>
            <a:ext cx="5257800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IT DOES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Ingests</a:t>
            </a:r>
            <a:r>
              <a:rPr sz="1250" b="0">
                <a:solidFill>
                  <a:srgbClr val="333F4F"/>
                </a:solidFill>
                <a:latin typeface="Calibri"/>
              </a:rPr>
              <a:t> 9 CSVs plus messy business cases, PMO status reports and steering minutes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Normalizes</a:t>
            </a:r>
            <a:r>
              <a:rPr sz="1250" b="0">
                <a:solidFill>
                  <a:srgbClr val="333F4F"/>
                </a:solidFill>
                <a:latin typeface="Calibri"/>
              </a:rPr>
              <a:t> all of it to one initiative model — cost, dates, benefit, dependencies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Sequences</a:t>
            </a:r>
            <a:r>
              <a:rPr sz="1250" b="0">
                <a:solidFill>
                  <a:srgbClr val="333F4F"/>
                </a:solidFill>
                <a:latin typeface="Calibri"/>
              </a:rPr>
              <a:t> with a deterministic topological sort, flagging conflicts as it goes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2487168"/>
            <a:ext cx="5477256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2487168"/>
            <a:ext cx="57150" cy="19202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615184"/>
            <a:ext cx="512978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A JUDGE CAN CLICK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Sequenced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every initiative on a timeline, in dependency order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 graph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click one initiative, see everything it gates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Benefit-realization curve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when value actually hits the P&amp;L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572000"/>
            <a:ext cx="57150" cy="14630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00016"/>
            <a:ext cx="1083564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WHY IT CAN'T FAIL IN THE DEMO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Static single-page app: </a:t>
            </a:r>
            <a:r>
              <a:rPr sz="1250" b="1">
                <a:solidFill>
                  <a:srgbClr val="16283C"/>
                </a:solidFill>
                <a:latin typeface="Calibri"/>
              </a:rPr>
              <a:t>no backend, no runtime model call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it renders the same way every time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AI is used at ingest only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offline, output committed to the repo — to pull structured fields out of prose business cases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Scenario switch</a:t>
            </a:r>
            <a:r>
              <a:rPr sz="1250" b="0">
                <a:solidFill>
                  <a:srgbClr val="333F4F"/>
                </a:solidFill>
                <a:latin typeface="Calibri"/>
              </a:rPr>
              <a:t> re-runs the sequence in the browser; the engine is code, not a prompt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THE DEMO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The $895k initiative ranked last — until the tool followed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Naive ROI buries the enabler. Dependency-aware sequencing puts it first, and shows why.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4846320" cy="215798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57150" cy="2157984"/>
          </a:xfrm>
          <a:prstGeom prst="rect">
            <a:avLst/>
          </a:prstGeom>
          <a:solidFill>
            <a:srgbClr val="5A6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449884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5A6674"/>
                </a:solidFill>
                <a:latin typeface="Calibri"/>
              </a:rPr>
              <a:t>RANKED BY NAIVE ROI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$895k</a:t>
            </a:r>
            <a:r>
              <a:rPr sz="1250" b="0">
                <a:solidFill>
                  <a:srgbClr val="333F4F"/>
                </a:solidFill>
                <a:latin typeface="Calibri"/>
              </a:rPr>
              <a:t> cost, </a:t>
            </a:r>
            <a:r>
              <a:rPr sz="1250" b="1">
                <a:solidFill>
                  <a:srgbClr val="16283C"/>
                </a:solidFill>
                <a:latin typeface="Calibri"/>
              </a:rPr>
              <a:t>$70k/yr</a:t>
            </a:r>
            <a:r>
              <a:rPr sz="1250" b="0">
                <a:solidFill>
                  <a:srgbClr val="333F4F"/>
                </a:solidFill>
                <a:latin typeface="Calibri"/>
              </a:rPr>
              <a:t> of direct benefit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Scores worst in the portfolio — ranked </a:t>
            </a:r>
            <a:r>
              <a:rPr sz="1250" b="1">
                <a:solidFill>
                  <a:srgbClr val="16283C"/>
                </a:solidFill>
                <a:latin typeface="Calibri"/>
              </a:rPr>
              <a:t>LAST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PMO spreadsheet would defer it, and quietly stall everything behind 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13832" y="2487168"/>
            <a:ext cx="475488" cy="365760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1536192"/>
            <a:ext cx="5532120" cy="215798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53912" y="1536192"/>
            <a:ext cx="57150" cy="215798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664207"/>
            <a:ext cx="5184648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AFTER THE TOOL FOLLOWS THE CHAIN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It walks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28 downstream initiatives</a:t>
            </a:r>
            <a:r>
              <a:rPr sz="1250" b="0">
                <a:solidFill>
                  <a:srgbClr val="333F4F"/>
                </a:solidFill>
                <a:latin typeface="Calibri"/>
              </a:rPr>
              <a:t> that enabler gates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Those initiatives carry </a:t>
            </a:r>
            <a:r>
              <a:rPr sz="1250" b="1">
                <a:solidFill>
                  <a:srgbClr val="16283C"/>
                </a:solidFill>
                <a:latin typeface="Calibri"/>
              </a:rPr>
              <a:t>$38.6m/yr</a:t>
            </a:r>
            <a:r>
              <a:rPr sz="1250" b="0">
                <a:solidFill>
                  <a:srgbClr val="333F4F"/>
                </a:solidFill>
                <a:latin typeface="Calibri"/>
              </a:rPr>
              <a:t> of benefit behind 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It corrects itself and sequences the enabler </a:t>
            </a:r>
            <a:r>
              <a:rPr sz="1250" b="1">
                <a:solidFill>
                  <a:srgbClr val="16283C"/>
                </a:solidFill>
                <a:latin typeface="Calibri"/>
              </a:rPr>
              <a:t>first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with the chain as the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58768"/>
            <a:ext cx="11183112" cy="566928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68496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6283C"/>
                </a:solidFill>
                <a:latin typeface="Calibri"/>
              </a:rPr>
              <a:t>$895k of spend sits in front of $38.6m/yr of downstream benefit.</a:t>
            </a:r>
            <a:r>
              <a:rPr sz="1400" b="0">
                <a:solidFill>
                  <a:srgbClr val="333F4F"/>
                </a:solidFill>
                <a:latin typeface="Calibri"/>
              </a:rPr>
              <a:t> That is the insight a PMO spreadsheet cannot produce.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90288"/>
            <a:ext cx="11183112" cy="144475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90288"/>
            <a:ext cx="57150" cy="144475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718303"/>
            <a:ext cx="1083564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AND IT CHALLENGES THE PLAN — 4 VIOLATION TYPES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</a:t>
            </a:r>
            <a:r>
              <a:rPr sz="1250" b="0">
                <a:solidFill>
                  <a:srgbClr val="333F4F"/>
                </a:solidFill>
                <a:latin typeface="Calibri"/>
              </a:rPr>
              <a:t>, </a:t>
            </a:r>
            <a:r>
              <a:rPr sz="1250" b="1">
                <a:solidFill>
                  <a:srgbClr val="16283C"/>
                </a:solidFill>
                <a:latin typeface="Calibri"/>
              </a:rPr>
              <a:t>resource</a:t>
            </a:r>
            <a:r>
              <a:rPr sz="1250" b="0">
                <a:solidFill>
                  <a:srgbClr val="333F4F"/>
                </a:solidFill>
                <a:latin typeface="Calibri"/>
              </a:rPr>
              <a:t>, </a:t>
            </a:r>
            <a:r>
              <a:rPr sz="1250" b="1">
                <a:solidFill>
                  <a:srgbClr val="16283C"/>
                </a:solidFill>
                <a:latin typeface="Calibri"/>
              </a:rPr>
              <a:t>budget</a:t>
            </a:r>
            <a:r>
              <a:rPr sz="1250" b="0">
                <a:solidFill>
                  <a:srgbClr val="333F4F"/>
                </a:solidFill>
                <a:latin typeface="Calibri"/>
              </a:rPr>
              <a:t>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compliance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violations, detected on every run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Compliance sorts to the top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regulatory initiatives are never deferrable by a scenario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Every flag is traceable to the source row, so the owner can argue with the data, not the tool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The board is promised $84.3m. The plan schedules a $39.6m run-rate.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The gap is not a benefits problem — it is a sequencing problem, and it is now visible.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$84.3m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benefit promised across the portfolio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100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$39.6m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annual run-rate scheduled by end-2027 — 47% of the promise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$18.0m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of benefit inside the 24-month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6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456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$89.8m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of planned spend inside that same window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5605272" cy="17739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670048"/>
            <a:ext cx="57150" cy="17739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98064"/>
            <a:ext cx="5257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THE NUMBERS SAY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16 of 60</a:t>
            </a:r>
            <a:r>
              <a:rPr sz="1250" b="0">
                <a:solidFill>
                  <a:srgbClr val="333F4F"/>
                </a:solidFill>
                <a:latin typeface="Calibri"/>
              </a:rPr>
              <a:t> initiatives deliver nothing inside the window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Only </a:t>
            </a:r>
            <a:r>
              <a:rPr sz="1250" b="1">
                <a:solidFill>
                  <a:srgbClr val="16283C"/>
                </a:solidFill>
                <a:latin typeface="Calibri"/>
              </a:rPr>
              <a:t>25 of 60</a:t>
            </a:r>
            <a:r>
              <a:rPr sz="1250" b="0">
                <a:solidFill>
                  <a:srgbClr val="333F4F"/>
                </a:solidFill>
                <a:latin typeface="Calibri"/>
              </a:rPr>
              <a:t> ever reach full run-rate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Budget: </a:t>
            </a:r>
            <a:r>
              <a:rPr sz="1250" b="1">
                <a:solidFill>
                  <a:srgbClr val="16283C"/>
                </a:solidFill>
                <a:latin typeface="Calibri"/>
              </a:rPr>
              <a:t>$95.3m</a:t>
            </a:r>
            <a:r>
              <a:rPr sz="1250" b="0">
                <a:solidFill>
                  <a:srgbClr val="333F4F"/>
                </a:solidFill>
                <a:latin typeface="Calibri"/>
              </a:rPr>
              <a:t> approved against a </a:t>
            </a:r>
            <a:r>
              <a:rPr sz="1250" b="1">
                <a:solidFill>
                  <a:srgbClr val="16283C"/>
                </a:solidFill>
                <a:latin typeface="Calibri"/>
              </a:rPr>
              <a:t>$101.7m</a:t>
            </a:r>
            <a:r>
              <a:rPr sz="1250" b="0">
                <a:solidFill>
                  <a:srgbClr val="333F4F"/>
                </a:solidFill>
                <a:latin typeface="Calibri"/>
              </a:rPr>
              <a:t> forecast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2670048"/>
            <a:ext cx="5477256" cy="17739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2670048"/>
            <a:ext cx="57150" cy="17739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798064"/>
            <a:ext cx="512978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THAT IS WORTH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 of PMO analysis compressed to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repeatable on every status cycle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board that can finally see </a:t>
            </a:r>
            <a:r>
              <a:rPr sz="1250" b="1">
                <a:solidFill>
                  <a:srgbClr val="16283C"/>
                </a:solidFill>
                <a:latin typeface="Calibri"/>
              </a:rPr>
              <a:t>when value hits the P&amp;L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not just what was promised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Re-phasing decisions get made </a:t>
            </a:r>
            <a:r>
              <a:rPr sz="1250" b="1">
                <a:solidFill>
                  <a:srgbClr val="16283C"/>
                </a:solidFill>
                <a:latin typeface="Calibri"/>
              </a:rPr>
              <a:t>before</a:t>
            </a:r>
            <a:r>
              <a:rPr sz="1250" b="0">
                <a:solidFill>
                  <a:srgbClr val="333F4F"/>
                </a:solidFill>
                <a:latin typeface="Calibri"/>
              </a:rPr>
              <a:t> money is committed, not 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08576"/>
            <a:ext cx="11183112" cy="14264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08576"/>
            <a:ext cx="57150" cy="142646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36592"/>
            <a:ext cx="108356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CONVERSATION IT UNLOCKS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"Which initiatives are we funding this year that return nothing inside the window?" — answered in one view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"What has to move for benefit to land before the end of 2027?" — answered by re-running the sequence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Same data the client already has. The tool just refuses to let the timing hide.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PATH TO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Path to market: land it in a CTO's first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One client portfolio, 4-6 weeks, their real PMO exports — out the other end, a board-ready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3675887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3328415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WHO BUYS 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Primary: Chief Transformation Officer</a:t>
            </a:r>
            <a:r>
              <a:rPr sz="1250" b="0">
                <a:solidFill>
                  <a:srgbClr val="333F4F"/>
                </a:solidFill>
                <a:latin typeface="Calibri"/>
              </a:rPr>
              <a:t>, first 90 days, owes the board a credible plan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PMO lead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maintains the roadmap between board cycles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CFO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defends the benefit baseline and the phasing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81328"/>
            <a:ext cx="3675887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609344"/>
            <a:ext cx="3328415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PILOT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One client transformation portfolio, 4-6 weeks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Ingest </a:t>
            </a:r>
            <a:r>
              <a:rPr sz="1250" b="1">
                <a:solidFill>
                  <a:srgbClr val="16283C"/>
                </a:solidFill>
                <a:latin typeface="Calibri"/>
              </a:rPr>
              <a:t>their real PMO exports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trackers, business cases, status reports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Deliver a </a:t>
            </a:r>
            <a:r>
              <a:rPr sz="1250" b="1">
                <a:solidFill>
                  <a:srgbClr val="16283C"/>
                </a:solidFill>
                <a:latin typeface="Calibri"/>
              </a:rPr>
              <a:t>board-ready sequenced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plus the conflicts we found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81328"/>
            <a:ext cx="3666744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9288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609344"/>
            <a:ext cx="3319272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WE NEED FROM THEM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</a:t>
            </a:r>
            <a:r>
              <a:rPr sz="1250" b="1">
                <a:solidFill>
                  <a:srgbClr val="16283C"/>
                </a:solidFill>
                <a:latin typeface="Calibri"/>
              </a:rPr>
              <a:t>read-only export</a:t>
            </a:r>
            <a:r>
              <a:rPr sz="1250" b="0">
                <a:solidFill>
                  <a:srgbClr val="333F4F"/>
                </a:solidFill>
                <a:latin typeface="Calibri"/>
              </a:rPr>
              <a:t> of their programme tracker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One PMO analyst, part-time</a:t>
            </a:r>
            <a:r>
              <a:rPr sz="1250" b="0">
                <a:solidFill>
                  <a:srgbClr val="333F4F"/>
                </a:solidFill>
                <a:latin typeface="Calibri"/>
              </a:rPr>
              <a:t>, to confirm what the data means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</a:t>
            </a:r>
            <a:r>
              <a:rPr sz="1250" b="1">
                <a:solidFill>
                  <a:srgbClr val="16283C"/>
                </a:solidFill>
                <a:latin typeface="Calibri"/>
              </a:rPr>
              <a:t>named executive sponsor</a:t>
            </a:r>
            <a:r>
              <a:rPr sz="1250" b="0">
                <a:solidFill>
                  <a:srgbClr val="333F4F"/>
                </a:solidFill>
                <a:latin typeface="Calibri"/>
              </a:rPr>
              <a:t> who will act on the sequencing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58768"/>
            <a:ext cx="7434072" cy="2176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58768"/>
            <a:ext cx="57150" cy="217627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3"/>
            <a:ext cx="7086600" cy="1956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RISKS AND HOW WE HANDLE THEM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Data quality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the tool </a:t>
            </a:r>
            <a:r>
              <a:rPr sz="1250" b="1">
                <a:solidFill>
                  <a:srgbClr val="16283C"/>
                </a:solidFill>
                <a:latin typeface="Calibri"/>
              </a:rPr>
              <a:t>surfaces contradictions rather than hiding them</a:t>
            </a:r>
            <a:r>
              <a:rPr sz="1250" b="0">
                <a:solidFill>
                  <a:srgbClr val="333F4F"/>
                </a:solidFill>
                <a:latin typeface="Calibri"/>
              </a:rPr>
              <a:t>; the mess becomes the first deliverable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Change resistance from initiative owners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sequencing is </a:t>
            </a:r>
            <a:r>
              <a:rPr sz="1250" b="1">
                <a:solidFill>
                  <a:srgbClr val="16283C"/>
                </a:solidFill>
                <a:latin typeface="Calibri"/>
              </a:rPr>
              <a:t>transparent and auditable</a:t>
            </a:r>
            <a:r>
              <a:rPr sz="1250" b="0">
                <a:solidFill>
                  <a:srgbClr val="333F4F"/>
                </a:solidFill>
                <a:latin typeface="Calibri"/>
              </a:rPr>
              <a:t>, every ordering traces to a dependency, not a black box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Security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runs </a:t>
            </a:r>
            <a:r>
              <a:rPr sz="1250" b="1">
                <a:solidFill>
                  <a:srgbClr val="16283C"/>
                </a:solidFill>
                <a:latin typeface="Calibri"/>
              </a:rPr>
              <a:t>client-side</a:t>
            </a:r>
            <a:r>
              <a:rPr sz="1250" b="0">
                <a:solidFill>
                  <a:srgbClr val="333F4F"/>
                </a:solidFill>
                <a:latin typeface="Calibri"/>
              </a:rPr>
              <a:t>, no data leaves their environment, nothing is uploaded and no model is called at runtime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3858768"/>
            <a:ext cx="3666744" cy="2176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9288" y="3858768"/>
            <a:ext cx="57150" cy="2176272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2167" y="3986783"/>
            <a:ext cx="3319272" cy="1956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6283C"/>
                </a:solidFill>
                <a:latin typeface="Calibri"/>
              </a:rPr>
              <a:t>HOW WE MEASURE SUCCESS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Time to produce a board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weeks to minutes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Sequencing conflicts caught pre-commitment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% of benefit re-phased into the window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How it works: AI at ingest, deterministic code at decision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Re-run it and a judge gets the same answer, every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1.  WHAT EXISTS TODAY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9 CSV extracts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Prose business cases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PMO status reports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Steering minutes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 messy master tracker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1528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1568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2.  OFFLINE INGEST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AI extraction of structured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fields from prose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+ normalization rules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Run once, output committed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0176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828800"/>
            <a:ext cx="2487168" cy="2139696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1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3.  ONE DATA FILE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 single committed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initiative model: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cost, dates, benefit,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dependencies, constraints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The app's only input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8824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98864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4.  IN THE BROWSER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Deterministic engine: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topological sort +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conflict detection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Sequenced roadmap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Dependency graph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Benefit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11183112" cy="157276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57150" cy="157276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2544"/>
            <a:ext cx="1083564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WHY THIS SHAPE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Sequencing is deterministic code, not a model call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the same input always produces the same roadmap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AI does the one job it is good at</a:t>
            </a:r>
            <a:r>
              <a:rPr sz="1250" b="0">
                <a:solidFill>
                  <a:srgbClr val="333F4F"/>
                </a:solidFill>
                <a:latin typeface="Calibri"/>
              </a:rPr>
              <a:t>: turning prose business cases into structured fields, offline, reviewable in the diff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 backend, no keys, no network at runtime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it runs from a file, which is also why it is safe inside a client's environment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ABERDEEN LABS REUSABILITY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A Labs accelerator, not a one-off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Three separable layers — the next team starts from a working dataset, not a blank repo.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3675887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682495"/>
            <a:ext cx="3419855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INGEST → MODEL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Extraction + normalization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into one initiative schema.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Swap the source documents,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keep everything downstream.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1104" y="1536192"/>
            <a:ext cx="3675887" cy="2103120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682495"/>
            <a:ext cx="3419855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SEQUENCING ENGINE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Topological sort +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4-type conflict detection.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Domain-agnostic: it only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needs initiatives and edges.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9288" y="1536192"/>
            <a:ext cx="3666744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682495"/>
            <a:ext cx="3410711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VIEW LAYER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Roadmap, dependency graph,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benefit curve, scenarios.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Re-skinnable; reads the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model, not the source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03904"/>
            <a:ext cx="5605272" cy="22311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57150" cy="22311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SAME ENGINE, OTHER ENGAGEMENTS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Post-merger integration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synergy programmes with hard sequencing constraints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Cost programmes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savings initiatives that gate each other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Capital plans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capex portfolios where enablers come first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Any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dependency-heavy portfolio</a:t>
            </a:r>
            <a:r>
              <a:rPr sz="1250" b="0">
                <a:solidFill>
                  <a:srgbClr val="333F4F"/>
                </a:solidFill>
                <a:latin typeface="Calibri"/>
              </a:rPr>
              <a:t> where timing decides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3803904"/>
            <a:ext cx="5477256" cy="22311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3803904"/>
            <a:ext cx="57150" cy="2231136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6" y="3931920"/>
            <a:ext cx="512978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6283C"/>
                </a:solidFill>
                <a:latin typeface="Calibri"/>
              </a:rPr>
              <a:t>ALREADY IN THE REPO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Schema</a:t>
            </a:r>
            <a:r>
              <a:rPr sz="1250" b="0">
                <a:solidFill>
                  <a:srgbClr val="333F4F"/>
                </a:solidFill>
                <a:latin typeface="Calibri"/>
              </a:rPr>
              <a:t>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FIELD-REFERENCE.md</a:t>
            </a:r>
            <a:r>
              <a:rPr sz="1250" b="0">
                <a:solidFill>
                  <a:srgbClr val="333F4F"/>
                </a:solidFill>
                <a:latin typeface="Calibri"/>
              </a:rPr>
              <a:t> for the initiative model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Synthetic test portfolio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60 initiatives, 95 dependencies, deliberate contradictions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Validator</a:t>
            </a:r>
            <a:r>
              <a:rPr sz="1250" b="0">
                <a:solidFill>
                  <a:srgbClr val="333F4F"/>
                </a:solidFill>
                <a:latin typeface="Calibri"/>
              </a:rPr>
              <a:t> that checks a new dataset before it reaches the engine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Next team starts from a </a:t>
            </a:r>
            <a:r>
              <a:rPr sz="1250" b="1">
                <a:solidFill>
                  <a:srgbClr val="16283C"/>
                </a:solidFill>
                <a:latin typeface="Calibri"/>
              </a:rPr>
              <a:t>working dataset</a:t>
            </a:r>
            <a:r>
              <a:rPr sz="1250" b="0">
                <a:solidFill>
                  <a:srgbClr val="333F4F"/>
                </a:solidFill>
                <a:latin typeface="Calibri"/>
              </a:rPr>
              <a:t>, day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