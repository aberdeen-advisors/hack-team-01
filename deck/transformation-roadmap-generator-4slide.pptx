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05840" y="1298448"/>
            <a:ext cx="402336" cy="237744"/>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54480" y="1298448"/>
            <a:ext cx="402336" cy="237744"/>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03120" y="1298448"/>
            <a:ext cx="402336" cy="237744"/>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760" y="1298448"/>
            <a:ext cx="402336" cy="237744"/>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0" y="1298448"/>
            <a:ext cx="402336" cy="237744"/>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49039" y="1298448"/>
            <a:ext cx="402336" cy="237744"/>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79" y="1298448"/>
            <a:ext cx="402336" cy="237744"/>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46320" y="1298448"/>
            <a:ext cx="402336" cy="237744"/>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94960" y="1298448"/>
            <a:ext cx="402336" cy="237744"/>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0" y="1298448"/>
            <a:ext cx="402336" cy="237744"/>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298448"/>
            <a:ext cx="402336" cy="237744"/>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40879" y="1298448"/>
            <a:ext cx="402336" cy="237744"/>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19" y="1298448"/>
            <a:ext cx="402336" cy="237744"/>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298448"/>
            <a:ext cx="402336" cy="237744"/>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05840" y="1700784"/>
            <a:ext cx="7534656" cy="45720"/>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2286000"/>
            <a:ext cx="10607040" cy="1188720"/>
          </a:xfrm>
          <a:prstGeom prst="rect">
            <a:avLst/>
          </a:prstGeom>
          <a:noFill/>
        </p:spPr>
        <p:txBody>
          <a:bodyPr wrap="square" lIns="0" rIns="0" tIns="0" bIns="0" anchor="t">
            <a:spAutoFit/>
          </a:bodyPr>
          <a:lstStyle/>
          <a:p>
            <a:pPr>
              <a:lnSpc>
                <a:spcPct val="98000"/>
              </a:lnSpc>
              <a:spcAft>
                <a:spcPts val="0"/>
              </a:spcAft>
            </a:pPr>
            <a:r>
              <a:rPr sz="4200" b="1">
                <a:solidFill>
                  <a:srgbClr val="FFFFFF"/>
                </a:solidFill>
                <a:latin typeface="Calibri"/>
              </a:rPr>
              <a:t>Transformation Roadmap Generator</a:t>
            </a:r>
          </a:p>
        </p:txBody>
      </p:sp>
      <p:sp>
        <p:nvSpPr>
          <p:cNvPr id="20" name="TextBox 19"/>
          <p:cNvSpPr txBox="1"/>
          <p:nvPr/>
        </p:nvSpPr>
        <p:spPr>
          <a:xfrm>
            <a:off x="1005840" y="3529584"/>
            <a:ext cx="9509760" cy="640080"/>
          </a:xfrm>
          <a:prstGeom prst="rect">
            <a:avLst/>
          </a:prstGeom>
          <a:noFill/>
        </p:spPr>
        <p:txBody>
          <a:bodyPr wrap="square" lIns="0" rIns="0" tIns="0" bIns="0" anchor="t">
            <a:spAutoFit/>
          </a:bodyPr>
          <a:lstStyle/>
          <a:p>
            <a:pPr>
              <a:lnSpc>
                <a:spcPct val="98000"/>
              </a:lnSpc>
              <a:spcAft>
                <a:spcPts val="0"/>
              </a:spcAft>
            </a:pPr>
            <a:r>
              <a:rPr sz="1900" b="0">
                <a:solidFill>
                  <a:srgbClr val="8FC2D2"/>
                </a:solidFill>
                <a:latin typeface="Calibri"/>
              </a:rPr>
              <a:t>Turning 60 competing initiatives into one sequenced roadmap the board can agree on.</a:t>
            </a:r>
          </a:p>
        </p:txBody>
      </p:sp>
      <p:sp>
        <p:nvSpPr>
          <p:cNvPr id="21" name="Rectangle 20"/>
          <p:cNvSpPr/>
          <p:nvPr/>
        </p:nvSpPr>
        <p:spPr>
          <a:xfrm>
            <a:off x="1005840" y="4626864"/>
            <a:ext cx="2834640" cy="45720"/>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937760"/>
            <a:ext cx="10058400" cy="1097280"/>
          </a:xfrm>
          <a:prstGeom prst="rect">
            <a:avLst/>
          </a:prstGeom>
          <a:noFill/>
        </p:spPr>
        <p:txBody>
          <a:bodyPr wrap="square" lIns="0" rIns="0" tIns="0" bIns="0" anchor="t">
            <a:spAutoFit/>
          </a:bodyPr>
          <a:lstStyle/>
          <a:p>
            <a:pPr>
              <a:lnSpc>
                <a:spcPct val="98000"/>
              </a:lnSpc>
              <a:spcAft>
                <a:spcPts val="600"/>
              </a:spcAft>
            </a:pPr>
            <a:r>
              <a:rPr sz="1500" b="1">
                <a:solidFill>
                  <a:srgbClr val="FFFFFF"/>
                </a:solidFill>
                <a:latin typeface="Calibri"/>
              </a:rPr>
              <a:t>Team 1: Suraj Sehgal, Katie Bui, Jim Towler</a:t>
            </a:r>
          </a:p>
          <a:p>
            <a:pPr>
              <a:lnSpc>
                <a:spcPct val="98000"/>
              </a:lnSpc>
              <a:spcAft>
                <a:spcPts val="0"/>
              </a:spcAft>
            </a:pPr>
            <a:r>
              <a:rPr sz="1400" b="0">
                <a:solidFill>
                  <a:srgbClr val="8FC2D2"/>
                </a:solidFill>
                <a:latin typeface="Calibri"/>
              </a:rPr>
              <a:t>Hackathon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82880"/>
            <a:ext cx="11183112" cy="237744"/>
          </a:xfrm>
          <a:prstGeom prst="rect">
            <a:avLst/>
          </a:prstGeom>
          <a:noFill/>
        </p:spPr>
        <p:txBody>
          <a:bodyPr wrap="square" lIns="0" rIns="0" tIns="0" bIns="0">
            <a:spAutoFit/>
          </a:bodyPr>
          <a:lstStyle/>
          <a:p>
            <a:r>
              <a:rPr sz="1100" b="1">
                <a:solidFill>
                  <a:srgbClr val="1B6E8C"/>
                </a:solidFill>
                <a:latin typeface="Calibri"/>
              </a:rPr>
              <a:t>EXECUTIVE SUMMARY</a:t>
            </a:r>
          </a:p>
        </p:txBody>
      </p:sp>
      <p:sp>
        <p:nvSpPr>
          <p:cNvPr id="3" name="TextBox 2"/>
          <p:cNvSpPr txBox="1"/>
          <p:nvPr/>
        </p:nvSpPr>
        <p:spPr>
          <a:xfrm>
            <a:off x="502920" y="402336"/>
            <a:ext cx="11183112" cy="502920"/>
          </a:xfrm>
          <a:prstGeom prst="rect">
            <a:avLst/>
          </a:prstGeom>
          <a:noFill/>
        </p:spPr>
        <p:txBody>
          <a:bodyPr wrap="square" lIns="0" rIns="0" tIns="0" bIns="0">
            <a:spAutoFit/>
          </a:bodyPr>
          <a:lstStyle/>
          <a:p>
            <a:r>
              <a:rPr sz="2800" b="1">
                <a:solidFill>
                  <a:srgbClr val="16283C"/>
                </a:solidFill>
                <a:latin typeface="Calibri"/>
              </a:rPr>
              <a:t>60 initiatives, no agreed order</a:t>
            </a:r>
          </a:p>
        </p:txBody>
      </p:sp>
      <p:sp>
        <p:nvSpPr>
          <p:cNvPr id="4" name="TextBox 3"/>
          <p:cNvSpPr txBox="1"/>
          <p:nvPr/>
        </p:nvSpPr>
        <p:spPr>
          <a:xfrm>
            <a:off x="502920" y="896112"/>
            <a:ext cx="11183112" cy="365760"/>
          </a:xfrm>
          <a:prstGeom prst="rect">
            <a:avLst/>
          </a:prstGeom>
          <a:noFill/>
        </p:spPr>
        <p:txBody>
          <a:bodyPr wrap="square" lIns="0" rIns="0" tIns="0" bIns="0">
            <a:spAutoFit/>
          </a:bodyPr>
          <a:lstStyle/>
          <a:p>
            <a:r>
              <a:rPr sz="1400">
                <a:solidFill>
                  <a:srgbClr val="5A6674"/>
                </a:solidFill>
                <a:latin typeface="Calibri"/>
              </a:rPr>
              <a:t>The problem, the person with the problem, and what we built for them.</a:t>
            </a:r>
          </a:p>
        </p:txBody>
      </p:sp>
      <p:sp>
        <p:nvSpPr>
          <p:cNvPr id="5" name="Rectangle 4"/>
          <p:cNvSpPr/>
          <p:nvPr/>
        </p:nvSpPr>
        <p:spPr>
          <a:xfrm>
            <a:off x="502920" y="1316736"/>
            <a:ext cx="11183112" cy="31750"/>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64208"/>
            <a:ext cx="3611880" cy="3877056"/>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64208"/>
            <a:ext cx="3611880" cy="146304"/>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2029968"/>
            <a:ext cx="3136392" cy="310896"/>
          </a:xfrm>
          <a:prstGeom prst="rect">
            <a:avLst/>
          </a:prstGeom>
          <a:noFill/>
        </p:spPr>
        <p:txBody>
          <a:bodyPr wrap="square" lIns="0" rIns="0" tIns="0" bIns="0" anchor="t">
            <a:spAutoFit/>
          </a:bodyPr>
          <a:lstStyle/>
          <a:p>
            <a:pPr>
              <a:lnSpc>
                <a:spcPct val="98000"/>
              </a:lnSpc>
              <a:spcAft>
                <a:spcPts val="0"/>
              </a:spcAft>
            </a:pPr>
            <a:r>
              <a:rPr sz="1300" b="1">
                <a:solidFill>
                  <a:srgbClr val="C87A1E"/>
                </a:solidFill>
                <a:latin typeface="Calibri"/>
              </a:rPr>
              <a:t>THE PROBLEM</a:t>
            </a:r>
          </a:p>
        </p:txBody>
      </p:sp>
      <p:sp>
        <p:nvSpPr>
          <p:cNvPr id="9" name="Rectangle 8"/>
          <p:cNvSpPr/>
          <p:nvPr/>
        </p:nvSpPr>
        <p:spPr>
          <a:xfrm>
            <a:off x="905256" y="2596896"/>
            <a:ext cx="384048" cy="219456"/>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27048" y="2523744"/>
            <a:ext cx="384048" cy="219456"/>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30552" y="2688336"/>
            <a:ext cx="384048" cy="219456"/>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51560" y="3017520"/>
            <a:ext cx="384048" cy="219456"/>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673352" y="3072384"/>
            <a:ext cx="384048" cy="219456"/>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258568" y="2944368"/>
            <a:ext cx="384048" cy="219456"/>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 y="3438144"/>
            <a:ext cx="384048" cy="219456"/>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53896" y="3511296"/>
            <a:ext cx="384048" cy="219456"/>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75688" y="3383280"/>
            <a:ext cx="384048" cy="219456"/>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97864" y="3858768"/>
            <a:ext cx="384048" cy="219456"/>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37943" y="3803904"/>
            <a:ext cx="384048" cy="219456"/>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13432" y="3913632"/>
            <a:ext cx="384048" cy="219456"/>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ight Arrow 20"/>
          <p:cNvSpPr/>
          <p:nvPr/>
        </p:nvSpPr>
        <p:spPr>
          <a:xfrm>
            <a:off x="2825496" y="3145536"/>
            <a:ext cx="384048" cy="310896"/>
          </a:xfrm>
          <a:prstGeom prst="rightArrow">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9544" y="2560320"/>
            <a:ext cx="384048" cy="219456"/>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30168" y="2560320"/>
            <a:ext cx="384048" cy="219456"/>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9544" y="2852928"/>
            <a:ext cx="384048" cy="219456"/>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30168" y="2852928"/>
            <a:ext cx="384048" cy="219456"/>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9544" y="3145536"/>
            <a:ext cx="384048" cy="219456"/>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30168" y="3145536"/>
            <a:ext cx="384048" cy="219456"/>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09544" y="3438144"/>
            <a:ext cx="384048" cy="219456"/>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30168" y="3438144"/>
            <a:ext cx="384048" cy="219456"/>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9544" y="3730752"/>
            <a:ext cx="384048" cy="219456"/>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30168" y="3730752"/>
            <a:ext cx="384048" cy="219456"/>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209544" y="4023360"/>
            <a:ext cx="384048" cy="219456"/>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30168" y="4023360"/>
            <a:ext cx="384048" cy="219456"/>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 y="4407408"/>
            <a:ext cx="3136392" cy="1005840"/>
          </a:xfrm>
          <a:prstGeom prst="rect">
            <a:avLst/>
          </a:prstGeom>
          <a:noFill/>
        </p:spPr>
        <p:txBody>
          <a:bodyPr wrap="square" lIns="0" rIns="0" tIns="0" bIns="0" anchor="t">
            <a:spAutoFit/>
          </a:bodyPr>
          <a:lstStyle/>
          <a:p>
            <a:pPr>
              <a:lnSpc>
                <a:spcPct val="98000"/>
              </a:lnSpc>
              <a:spcAft>
                <a:spcPts val="0"/>
              </a:spcAft>
            </a:pPr>
            <a:r>
              <a:rPr sz="1250" b="0">
                <a:solidFill>
                  <a:srgbClr val="333F4F"/>
                </a:solidFill>
                <a:latin typeface="Calibri"/>
              </a:rPr>
              <a:t>60 projects across technology, operations, growth and cost. No single plan. No agreement on what comes first.</a:t>
            </a:r>
          </a:p>
        </p:txBody>
      </p:sp>
      <p:sp>
        <p:nvSpPr>
          <p:cNvPr id="35" name="Rectangle 34"/>
          <p:cNvSpPr/>
          <p:nvPr/>
        </p:nvSpPr>
        <p:spPr>
          <a:xfrm>
            <a:off x="4288536" y="1664208"/>
            <a:ext cx="3611880" cy="3877056"/>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88536" y="1664208"/>
            <a:ext cx="3611880" cy="146304"/>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26280" y="2029968"/>
            <a:ext cx="3136392" cy="310896"/>
          </a:xfrm>
          <a:prstGeom prst="rect">
            <a:avLst/>
          </a:prstGeom>
          <a:noFill/>
        </p:spPr>
        <p:txBody>
          <a:bodyPr wrap="square" lIns="0" rIns="0" tIns="0" bIns="0" anchor="t">
            <a:spAutoFit/>
          </a:bodyPr>
          <a:lstStyle/>
          <a:p>
            <a:pPr>
              <a:lnSpc>
                <a:spcPct val="98000"/>
              </a:lnSpc>
              <a:spcAft>
                <a:spcPts val="0"/>
              </a:spcAft>
            </a:pPr>
            <a:r>
              <a:rPr sz="1300" b="1">
                <a:solidFill>
                  <a:srgbClr val="1B6E8C"/>
                </a:solidFill>
                <a:latin typeface="Calibri"/>
              </a:rPr>
              <a:t>THE USER</a:t>
            </a:r>
          </a:p>
        </p:txBody>
      </p:sp>
      <p:sp>
        <p:nvSpPr>
          <p:cNvPr id="38" name="TextBox 37"/>
          <p:cNvSpPr txBox="1"/>
          <p:nvPr/>
        </p:nvSpPr>
        <p:spPr>
          <a:xfrm>
            <a:off x="4526280" y="2505456"/>
            <a:ext cx="3136392" cy="1005840"/>
          </a:xfrm>
          <a:prstGeom prst="rect">
            <a:avLst/>
          </a:prstGeom>
          <a:noFill/>
        </p:spPr>
        <p:txBody>
          <a:bodyPr wrap="square" lIns="0" rIns="0" tIns="0" bIns="0" anchor="t">
            <a:spAutoFit/>
          </a:bodyPr>
          <a:lstStyle/>
          <a:p>
            <a:pPr>
              <a:lnSpc>
                <a:spcPct val="98000"/>
              </a:lnSpc>
              <a:spcAft>
                <a:spcPts val="400"/>
              </a:spcAft>
            </a:pPr>
            <a:r>
              <a:rPr sz="2000" b="1">
                <a:solidFill>
                  <a:srgbClr val="16283C"/>
                </a:solidFill>
                <a:latin typeface="Calibri"/>
              </a:rPr>
              <a:t>Chief Transformation Officer</a:t>
            </a:r>
          </a:p>
          <a:p>
            <a:pPr>
              <a:lnSpc>
                <a:spcPct val="98000"/>
              </a:lnSpc>
              <a:spcAft>
                <a:spcPts val="0"/>
              </a:spcAft>
            </a:pPr>
            <a:r>
              <a:rPr sz="1500" b="0">
                <a:solidFill>
                  <a:srgbClr val="5A6674"/>
                </a:solidFill>
                <a:latin typeface="Calibri"/>
              </a:rPr>
              <a:t>in their first 90 days.</a:t>
            </a:r>
          </a:p>
        </p:txBody>
      </p:sp>
      <p:sp>
        <p:nvSpPr>
          <p:cNvPr id="39" name="Rectangle 38"/>
          <p:cNvSpPr/>
          <p:nvPr/>
        </p:nvSpPr>
        <p:spPr>
          <a:xfrm>
            <a:off x="4526280" y="3621024"/>
            <a:ext cx="3136392" cy="384048"/>
          </a:xfrm>
          <a:prstGeom prst="rect">
            <a:avLst/>
          </a:prstGeom>
          <a:solidFill>
            <a:srgbClr val="FFFFFF"/>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90872" y="3721608"/>
            <a:ext cx="2807208" cy="274320"/>
          </a:xfrm>
          <a:prstGeom prst="rect">
            <a:avLst/>
          </a:prstGeom>
          <a:noFill/>
        </p:spPr>
        <p:txBody>
          <a:bodyPr wrap="square" lIns="0" rIns="0" tIns="0" bIns="0" anchor="t">
            <a:spAutoFit/>
          </a:bodyPr>
          <a:lstStyle/>
          <a:p>
            <a:pPr>
              <a:lnSpc>
                <a:spcPct val="98000"/>
              </a:lnSpc>
              <a:spcAft>
                <a:spcPts val="0"/>
              </a:spcAft>
            </a:pPr>
            <a:r>
              <a:rPr sz="1250" b="0">
                <a:solidFill>
                  <a:srgbClr val="333F4F"/>
                </a:solidFill>
                <a:latin typeface="Calibri"/>
              </a:rPr>
              <a:t>Programme office lead</a:t>
            </a:r>
          </a:p>
        </p:txBody>
      </p:sp>
      <p:sp>
        <p:nvSpPr>
          <p:cNvPr id="41" name="Rectangle 40"/>
          <p:cNvSpPr/>
          <p:nvPr/>
        </p:nvSpPr>
        <p:spPr>
          <a:xfrm>
            <a:off x="4526280" y="4096512"/>
            <a:ext cx="3136392" cy="384048"/>
          </a:xfrm>
          <a:prstGeom prst="rect">
            <a:avLst/>
          </a:prstGeom>
          <a:solidFill>
            <a:srgbClr val="FFFFFF"/>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690872" y="4197096"/>
            <a:ext cx="2807208" cy="274320"/>
          </a:xfrm>
          <a:prstGeom prst="rect">
            <a:avLst/>
          </a:prstGeom>
          <a:noFill/>
        </p:spPr>
        <p:txBody>
          <a:bodyPr wrap="square" lIns="0" rIns="0" tIns="0" bIns="0" anchor="t">
            <a:spAutoFit/>
          </a:bodyPr>
          <a:lstStyle/>
          <a:p>
            <a:pPr>
              <a:lnSpc>
                <a:spcPct val="98000"/>
              </a:lnSpc>
              <a:spcAft>
                <a:spcPts val="0"/>
              </a:spcAft>
            </a:pPr>
            <a:r>
              <a:rPr sz="1250" b="0">
                <a:solidFill>
                  <a:srgbClr val="333F4F"/>
                </a:solidFill>
                <a:latin typeface="Calibri"/>
              </a:rPr>
              <a:t>Finance chief (CFO)</a:t>
            </a:r>
          </a:p>
        </p:txBody>
      </p:sp>
      <p:sp>
        <p:nvSpPr>
          <p:cNvPr id="43" name="TextBox 42"/>
          <p:cNvSpPr txBox="1"/>
          <p:nvPr/>
        </p:nvSpPr>
        <p:spPr>
          <a:xfrm>
            <a:off x="4526280" y="4700016"/>
            <a:ext cx="3136392" cy="731520"/>
          </a:xfrm>
          <a:prstGeom prst="rect">
            <a:avLst/>
          </a:prstGeom>
          <a:noFill/>
        </p:spPr>
        <p:txBody>
          <a:bodyPr wrap="square" lIns="0" rIns="0" tIns="0" bIns="0" anchor="t">
            <a:spAutoFit/>
          </a:bodyPr>
          <a:lstStyle/>
          <a:p>
            <a:pPr>
              <a:lnSpc>
                <a:spcPct val="98000"/>
              </a:lnSpc>
              <a:spcAft>
                <a:spcPts val="0"/>
              </a:spcAft>
            </a:pPr>
            <a:r>
              <a:rPr sz="1250" b="0">
                <a:solidFill>
                  <a:srgbClr val="333F4F"/>
                </a:solidFill>
                <a:latin typeface="Calibri"/>
              </a:rPr>
              <a:t>The board wants three answers: what happens first, what depends on what, and when the money shows up in the accounts.</a:t>
            </a:r>
          </a:p>
        </p:txBody>
      </p:sp>
      <p:sp>
        <p:nvSpPr>
          <p:cNvPr id="44" name="Rectangle 43"/>
          <p:cNvSpPr/>
          <p:nvPr/>
        </p:nvSpPr>
        <p:spPr>
          <a:xfrm>
            <a:off x="8074152" y="1664208"/>
            <a:ext cx="3611880" cy="3877056"/>
          </a:xfrm>
          <a:prstGeom prst="rect">
            <a:avLst/>
          </a:prstGeom>
          <a:solidFill>
            <a:srgbClr val="16283C"/>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074152" y="1664208"/>
            <a:ext cx="3611880" cy="146304"/>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11896" y="2029968"/>
            <a:ext cx="3136392" cy="310896"/>
          </a:xfrm>
          <a:prstGeom prst="rect">
            <a:avLst/>
          </a:prstGeom>
          <a:noFill/>
        </p:spPr>
        <p:txBody>
          <a:bodyPr wrap="square" lIns="0" rIns="0" tIns="0" bIns="0" anchor="t">
            <a:spAutoFit/>
          </a:bodyPr>
          <a:lstStyle/>
          <a:p>
            <a:pPr>
              <a:lnSpc>
                <a:spcPct val="98000"/>
              </a:lnSpc>
              <a:spcAft>
                <a:spcPts val="0"/>
              </a:spcAft>
            </a:pPr>
            <a:r>
              <a:rPr sz="1300" b="1">
                <a:solidFill>
                  <a:srgbClr val="8FC2D2"/>
                </a:solidFill>
                <a:latin typeface="Calibri"/>
              </a:rPr>
              <a:t>OUR SOLUTION</a:t>
            </a:r>
          </a:p>
        </p:txBody>
      </p:sp>
      <p:sp>
        <p:nvSpPr>
          <p:cNvPr id="47" name="TextBox 46"/>
          <p:cNvSpPr txBox="1"/>
          <p:nvPr/>
        </p:nvSpPr>
        <p:spPr>
          <a:xfrm>
            <a:off x="8311896" y="2505456"/>
            <a:ext cx="3136392" cy="2377440"/>
          </a:xfrm>
          <a:prstGeom prst="rect">
            <a:avLst/>
          </a:prstGeom>
          <a:noFill/>
        </p:spPr>
        <p:txBody>
          <a:bodyPr wrap="square" lIns="0" rIns="0" tIns="0" bIns="0" anchor="t">
            <a:spAutoFit/>
          </a:bodyPr>
          <a:lstStyle/>
          <a:p>
            <a:pPr>
              <a:lnSpc>
                <a:spcPct val="98000"/>
              </a:lnSpc>
              <a:spcAft>
                <a:spcPts val="800"/>
              </a:spcAft>
            </a:pPr>
            <a:r>
              <a:rPr sz="1400" b="0">
                <a:solidFill>
                  <a:srgbClr val="FFFFFF"/>
                </a:solidFill>
                <a:latin typeface="Calibri"/>
              </a:rPr>
              <a:t>One web page that reads the plans a client already has, puts every project into one consistent list, works out the order that respects what depends on what and the limits on money and people, then shows the roadmap, the links between projects and the benefit curve.</a:t>
            </a:r>
          </a:p>
          <a:p>
            <a:pPr>
              <a:lnSpc>
                <a:spcPct val="98000"/>
              </a:lnSpc>
              <a:spcAft>
                <a:spcPts val="0"/>
              </a:spcAft>
            </a:pPr>
            <a:r>
              <a:rPr sz="1400" b="1">
                <a:solidFill>
                  <a:srgbClr val="8FC2D2"/>
                </a:solidFill>
                <a:latin typeface="Calibri"/>
              </a:rPr>
              <a:t>Weeks of analysis in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82880"/>
            <a:ext cx="11183112" cy="237744"/>
          </a:xfrm>
          <a:prstGeom prst="rect">
            <a:avLst/>
          </a:prstGeom>
          <a:noFill/>
        </p:spPr>
        <p:txBody>
          <a:bodyPr wrap="square" lIns="0" rIns="0" tIns="0" bIns="0">
            <a:spAutoFit/>
          </a:bodyPr>
          <a:lstStyle/>
          <a:p>
            <a:r>
              <a:rPr sz="1100" b="1">
                <a:solidFill>
                  <a:srgbClr val="1B6E8C"/>
                </a:solidFill>
                <a:latin typeface="Calibri"/>
              </a:rPr>
              <a:t>HOW IT WORKS</a:t>
            </a:r>
          </a:p>
        </p:txBody>
      </p:sp>
      <p:sp>
        <p:nvSpPr>
          <p:cNvPr id="3" name="TextBox 2"/>
          <p:cNvSpPr txBox="1"/>
          <p:nvPr/>
        </p:nvSpPr>
        <p:spPr>
          <a:xfrm>
            <a:off x="502920" y="402336"/>
            <a:ext cx="11183112" cy="502920"/>
          </a:xfrm>
          <a:prstGeom prst="rect">
            <a:avLst/>
          </a:prstGeom>
          <a:noFill/>
        </p:spPr>
        <p:txBody>
          <a:bodyPr wrap="square" lIns="0" rIns="0" tIns="0" bIns="0">
            <a:spAutoFit/>
          </a:bodyPr>
          <a:lstStyle/>
          <a:p>
            <a:r>
              <a:rPr sz="2800" b="1">
                <a:solidFill>
                  <a:srgbClr val="16283C"/>
                </a:solidFill>
                <a:latin typeface="Calibri"/>
              </a:rPr>
              <a:t>Plans in, sequenced roadmap out</a:t>
            </a:r>
          </a:p>
        </p:txBody>
      </p:sp>
      <p:sp>
        <p:nvSpPr>
          <p:cNvPr id="4" name="TextBox 3"/>
          <p:cNvSpPr txBox="1"/>
          <p:nvPr/>
        </p:nvSpPr>
        <p:spPr>
          <a:xfrm>
            <a:off x="502920" y="896112"/>
            <a:ext cx="11183112" cy="365760"/>
          </a:xfrm>
          <a:prstGeom prst="rect">
            <a:avLst/>
          </a:prstGeom>
          <a:noFill/>
        </p:spPr>
        <p:txBody>
          <a:bodyPr wrap="square" lIns="0" rIns="0" tIns="0" bIns="0">
            <a:spAutoFit/>
          </a:bodyPr>
          <a:lstStyle/>
          <a:p>
            <a:r>
              <a:rPr sz="1400">
                <a:solidFill>
                  <a:srgbClr val="5A6674"/>
                </a:solidFill>
                <a:latin typeface="Calibri"/>
              </a:rPr>
              <a:t>Four steps, start to finish, in minutes.</a:t>
            </a:r>
          </a:p>
        </p:txBody>
      </p:sp>
      <p:sp>
        <p:nvSpPr>
          <p:cNvPr id="5" name="Rectangle 4"/>
          <p:cNvSpPr/>
          <p:nvPr/>
        </p:nvSpPr>
        <p:spPr>
          <a:xfrm>
            <a:off x="502920" y="1316736"/>
            <a:ext cx="11183112" cy="31750"/>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737360"/>
            <a:ext cx="2615184" cy="2377440"/>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2615184" cy="146304"/>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2121408"/>
            <a:ext cx="2176272" cy="822960"/>
          </a:xfrm>
          <a:prstGeom prst="rect">
            <a:avLst/>
          </a:prstGeom>
          <a:noFill/>
        </p:spPr>
        <p:txBody>
          <a:bodyPr wrap="square" lIns="0" rIns="0" tIns="0" bIns="0" anchor="t">
            <a:spAutoFit/>
          </a:bodyPr>
          <a:lstStyle/>
          <a:p>
            <a:pPr>
              <a:lnSpc>
                <a:spcPct val="98000"/>
              </a:lnSpc>
              <a:spcAft>
                <a:spcPts val="0"/>
              </a:spcAft>
            </a:pPr>
            <a:r>
              <a:rPr sz="5400" b="1">
                <a:solidFill>
                  <a:srgbClr val="16283C"/>
                </a:solidFill>
                <a:latin typeface="Calibri"/>
              </a:rPr>
              <a:t>1</a:t>
            </a:r>
          </a:p>
        </p:txBody>
      </p:sp>
      <p:sp>
        <p:nvSpPr>
          <p:cNvPr id="9" name="TextBox 8"/>
          <p:cNvSpPr txBox="1"/>
          <p:nvPr/>
        </p:nvSpPr>
        <p:spPr>
          <a:xfrm>
            <a:off x="722376" y="3035808"/>
            <a:ext cx="2176272" cy="914400"/>
          </a:xfrm>
          <a:prstGeom prst="rect">
            <a:avLst/>
          </a:prstGeom>
          <a:noFill/>
        </p:spPr>
        <p:txBody>
          <a:bodyPr wrap="square" lIns="0" rIns="0" tIns="0" bIns="0" anchor="t">
            <a:spAutoFit/>
          </a:bodyPr>
          <a:lstStyle/>
          <a:p>
            <a:pPr>
              <a:lnSpc>
                <a:spcPct val="98000"/>
              </a:lnSpc>
              <a:spcAft>
                <a:spcPts val="600"/>
              </a:spcAft>
            </a:pPr>
            <a:r>
              <a:rPr sz="1700" b="1">
                <a:solidFill>
                  <a:srgbClr val="16283C"/>
                </a:solidFill>
                <a:latin typeface="Calibri"/>
              </a:rPr>
              <a:t>Read the plans</a:t>
            </a:r>
          </a:p>
          <a:p>
            <a:pPr>
              <a:lnSpc>
                <a:spcPct val="98000"/>
              </a:lnSpc>
              <a:spcAft>
                <a:spcPts val="0"/>
              </a:spcAft>
            </a:pPr>
            <a:r>
              <a:rPr sz="1200" b="0">
                <a:solidFill>
                  <a:srgbClr val="5A6674"/>
                </a:solidFill>
                <a:latin typeface="Calibri"/>
              </a:rPr>
              <a:t>Spreadsheets, business cases, status reports</a:t>
            </a:r>
          </a:p>
        </p:txBody>
      </p:sp>
      <p:sp>
        <p:nvSpPr>
          <p:cNvPr id="10" name="Right Arrow 9"/>
          <p:cNvSpPr/>
          <p:nvPr/>
        </p:nvSpPr>
        <p:spPr>
          <a:xfrm>
            <a:off x="3145536" y="2706624"/>
            <a:ext cx="164592" cy="438912"/>
          </a:xfrm>
          <a:prstGeom prst="rightArrow">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59" y="1737360"/>
            <a:ext cx="2615184" cy="2377440"/>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59" y="1737360"/>
            <a:ext cx="2615184" cy="146304"/>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7015" y="2121408"/>
            <a:ext cx="2176272" cy="822960"/>
          </a:xfrm>
          <a:prstGeom prst="rect">
            <a:avLst/>
          </a:prstGeom>
          <a:noFill/>
        </p:spPr>
        <p:txBody>
          <a:bodyPr wrap="square" lIns="0" rIns="0" tIns="0" bIns="0" anchor="t">
            <a:spAutoFit/>
          </a:bodyPr>
          <a:lstStyle/>
          <a:p>
            <a:pPr>
              <a:lnSpc>
                <a:spcPct val="98000"/>
              </a:lnSpc>
              <a:spcAft>
                <a:spcPts val="0"/>
              </a:spcAft>
            </a:pPr>
            <a:r>
              <a:rPr sz="5400" b="1">
                <a:solidFill>
                  <a:srgbClr val="1B6E8C"/>
                </a:solidFill>
                <a:latin typeface="Calibri"/>
              </a:rPr>
              <a:t>2</a:t>
            </a:r>
          </a:p>
        </p:txBody>
      </p:sp>
      <p:sp>
        <p:nvSpPr>
          <p:cNvPr id="14" name="TextBox 13"/>
          <p:cNvSpPr txBox="1"/>
          <p:nvPr/>
        </p:nvSpPr>
        <p:spPr>
          <a:xfrm>
            <a:off x="3557015" y="3035808"/>
            <a:ext cx="2176272" cy="914400"/>
          </a:xfrm>
          <a:prstGeom prst="rect">
            <a:avLst/>
          </a:prstGeom>
          <a:noFill/>
        </p:spPr>
        <p:txBody>
          <a:bodyPr wrap="square" lIns="0" rIns="0" tIns="0" bIns="0" anchor="t">
            <a:spAutoFit/>
          </a:bodyPr>
          <a:lstStyle/>
          <a:p>
            <a:pPr>
              <a:lnSpc>
                <a:spcPct val="98000"/>
              </a:lnSpc>
              <a:spcAft>
                <a:spcPts val="600"/>
              </a:spcAft>
            </a:pPr>
            <a:r>
              <a:rPr sz="1700" b="1">
                <a:solidFill>
                  <a:srgbClr val="16283C"/>
                </a:solidFill>
                <a:latin typeface="Calibri"/>
              </a:rPr>
              <a:t>One list</a:t>
            </a:r>
          </a:p>
          <a:p>
            <a:pPr>
              <a:lnSpc>
                <a:spcPct val="98000"/>
              </a:lnSpc>
              <a:spcAft>
                <a:spcPts val="0"/>
              </a:spcAft>
            </a:pPr>
            <a:r>
              <a:rPr sz="1200" b="0">
                <a:solidFill>
                  <a:srgbClr val="5A6674"/>
                </a:solidFill>
                <a:latin typeface="Calibri"/>
              </a:rPr>
              <a:t>Every project described the same way</a:t>
            </a:r>
          </a:p>
        </p:txBody>
      </p:sp>
      <p:sp>
        <p:nvSpPr>
          <p:cNvPr id="15" name="Right Arrow 14"/>
          <p:cNvSpPr/>
          <p:nvPr/>
        </p:nvSpPr>
        <p:spPr>
          <a:xfrm>
            <a:off x="5980176" y="2706624"/>
            <a:ext cx="164592" cy="438912"/>
          </a:xfrm>
          <a:prstGeom prst="rightArrow">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199" y="1737360"/>
            <a:ext cx="2615184" cy="2377440"/>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199" y="1737360"/>
            <a:ext cx="2615184" cy="146304"/>
          </a:xfrm>
          <a:prstGeom prst="rect">
            <a:avLst/>
          </a:prstGeom>
          <a:solidFill>
            <a:srgbClr val="8FC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1655" y="2121408"/>
            <a:ext cx="2176272" cy="822960"/>
          </a:xfrm>
          <a:prstGeom prst="rect">
            <a:avLst/>
          </a:prstGeom>
          <a:noFill/>
        </p:spPr>
        <p:txBody>
          <a:bodyPr wrap="square" lIns="0" rIns="0" tIns="0" bIns="0" anchor="t">
            <a:spAutoFit/>
          </a:bodyPr>
          <a:lstStyle/>
          <a:p>
            <a:pPr>
              <a:lnSpc>
                <a:spcPct val="98000"/>
              </a:lnSpc>
              <a:spcAft>
                <a:spcPts val="0"/>
              </a:spcAft>
            </a:pPr>
            <a:r>
              <a:rPr sz="5400" b="1">
                <a:solidFill>
                  <a:srgbClr val="8FC2D2"/>
                </a:solidFill>
                <a:latin typeface="Calibri"/>
              </a:rPr>
              <a:t>3</a:t>
            </a:r>
          </a:p>
        </p:txBody>
      </p:sp>
      <p:sp>
        <p:nvSpPr>
          <p:cNvPr id="19" name="TextBox 18"/>
          <p:cNvSpPr txBox="1"/>
          <p:nvPr/>
        </p:nvSpPr>
        <p:spPr>
          <a:xfrm>
            <a:off x="6391655" y="3035808"/>
            <a:ext cx="2176272" cy="914400"/>
          </a:xfrm>
          <a:prstGeom prst="rect">
            <a:avLst/>
          </a:prstGeom>
          <a:noFill/>
        </p:spPr>
        <p:txBody>
          <a:bodyPr wrap="square" lIns="0" rIns="0" tIns="0" bIns="0" anchor="t">
            <a:spAutoFit/>
          </a:bodyPr>
          <a:lstStyle/>
          <a:p>
            <a:pPr>
              <a:lnSpc>
                <a:spcPct val="98000"/>
              </a:lnSpc>
              <a:spcAft>
                <a:spcPts val="600"/>
              </a:spcAft>
            </a:pPr>
            <a:r>
              <a:rPr sz="1700" b="1">
                <a:solidFill>
                  <a:srgbClr val="16283C"/>
                </a:solidFill>
                <a:latin typeface="Calibri"/>
              </a:rPr>
              <a:t>Work out the order</a:t>
            </a:r>
          </a:p>
          <a:p>
            <a:pPr>
              <a:lnSpc>
                <a:spcPct val="98000"/>
              </a:lnSpc>
              <a:spcAft>
                <a:spcPts val="0"/>
              </a:spcAft>
            </a:pPr>
            <a:r>
              <a:rPr sz="1200" b="0">
                <a:solidFill>
                  <a:srgbClr val="5A6674"/>
                </a:solidFill>
                <a:latin typeface="Calibri"/>
              </a:rPr>
              <a:t>Dependencies, budget and people limits</a:t>
            </a:r>
          </a:p>
        </p:txBody>
      </p:sp>
      <p:sp>
        <p:nvSpPr>
          <p:cNvPr id="20" name="Right Arrow 19"/>
          <p:cNvSpPr/>
          <p:nvPr/>
        </p:nvSpPr>
        <p:spPr>
          <a:xfrm>
            <a:off x="8814815" y="2706624"/>
            <a:ext cx="164592" cy="438912"/>
          </a:xfrm>
          <a:prstGeom prst="rightArrow">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06840" y="1737360"/>
            <a:ext cx="2615184" cy="2377440"/>
          </a:xfrm>
          <a:prstGeom prst="rect">
            <a:avLst/>
          </a:prstGeom>
          <a:solidFill>
            <a:srgbClr val="16283C"/>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06840" y="1737360"/>
            <a:ext cx="2615184" cy="146304"/>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26296" y="2121408"/>
            <a:ext cx="2176272" cy="822960"/>
          </a:xfrm>
          <a:prstGeom prst="rect">
            <a:avLst/>
          </a:prstGeom>
          <a:noFill/>
        </p:spPr>
        <p:txBody>
          <a:bodyPr wrap="square" lIns="0" rIns="0" tIns="0" bIns="0" anchor="t">
            <a:spAutoFit/>
          </a:bodyPr>
          <a:lstStyle/>
          <a:p>
            <a:pPr>
              <a:lnSpc>
                <a:spcPct val="98000"/>
              </a:lnSpc>
              <a:spcAft>
                <a:spcPts val="0"/>
              </a:spcAft>
            </a:pPr>
            <a:r>
              <a:rPr sz="5400" b="1">
                <a:solidFill>
                  <a:srgbClr val="8FC2D2"/>
                </a:solidFill>
                <a:latin typeface="Calibri"/>
              </a:rPr>
              <a:t>4</a:t>
            </a:r>
          </a:p>
        </p:txBody>
      </p:sp>
      <p:sp>
        <p:nvSpPr>
          <p:cNvPr id="24" name="TextBox 23"/>
          <p:cNvSpPr txBox="1"/>
          <p:nvPr/>
        </p:nvSpPr>
        <p:spPr>
          <a:xfrm>
            <a:off x="9226296" y="3035808"/>
            <a:ext cx="2176272" cy="914400"/>
          </a:xfrm>
          <a:prstGeom prst="rect">
            <a:avLst/>
          </a:prstGeom>
          <a:noFill/>
        </p:spPr>
        <p:txBody>
          <a:bodyPr wrap="square" lIns="0" rIns="0" tIns="0" bIns="0" anchor="t">
            <a:spAutoFit/>
          </a:bodyPr>
          <a:lstStyle/>
          <a:p>
            <a:pPr>
              <a:lnSpc>
                <a:spcPct val="98000"/>
              </a:lnSpc>
              <a:spcAft>
                <a:spcPts val="600"/>
              </a:spcAft>
            </a:pPr>
            <a:r>
              <a:rPr sz="1700" b="1">
                <a:solidFill>
                  <a:srgbClr val="FFFFFF"/>
                </a:solidFill>
                <a:latin typeface="Calibri"/>
              </a:rPr>
              <a:t>Show the picture</a:t>
            </a:r>
          </a:p>
          <a:p>
            <a:pPr>
              <a:lnSpc>
                <a:spcPct val="98000"/>
              </a:lnSpc>
              <a:spcAft>
                <a:spcPts val="0"/>
              </a:spcAft>
            </a:pPr>
            <a:r>
              <a:rPr sz="1200" b="0">
                <a:solidFill>
                  <a:srgbClr val="8FC2D2"/>
                </a:solidFill>
                <a:latin typeface="Calibri"/>
              </a:rPr>
              <a:t>Roadmap, project links, benefit curve</a:t>
            </a:r>
          </a:p>
        </p:txBody>
      </p:sp>
      <p:sp>
        <p:nvSpPr>
          <p:cNvPr id="25" name="Rectangle 24"/>
          <p:cNvSpPr/>
          <p:nvPr/>
        </p:nvSpPr>
        <p:spPr>
          <a:xfrm>
            <a:off x="502920" y="4389120"/>
            <a:ext cx="11183112" cy="1828800"/>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389120"/>
            <a:ext cx="11183112" cy="146304"/>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700016"/>
            <a:ext cx="5120640" cy="1280160"/>
          </a:xfrm>
          <a:prstGeom prst="rect">
            <a:avLst/>
          </a:prstGeom>
          <a:noFill/>
        </p:spPr>
        <p:txBody>
          <a:bodyPr wrap="square" lIns="0" rIns="0" tIns="0" bIns="0" anchor="t">
            <a:spAutoFit/>
          </a:bodyPr>
          <a:lstStyle/>
          <a:p>
            <a:pPr>
              <a:lnSpc>
                <a:spcPct val="98000"/>
              </a:lnSpc>
              <a:spcAft>
                <a:spcPts val="600"/>
              </a:spcAft>
            </a:pPr>
            <a:r>
              <a:rPr sz="1500" b="1">
                <a:solidFill>
                  <a:srgbClr val="16283C"/>
                </a:solidFill>
                <a:latin typeface="Calibri"/>
              </a:rPr>
              <a:t>Ranked on return alone</a:t>
            </a:r>
          </a:p>
          <a:p>
            <a:pPr>
              <a:lnSpc>
                <a:spcPct val="98000"/>
              </a:lnSpc>
              <a:spcAft>
                <a:spcPts val="0"/>
              </a:spcAft>
            </a:pPr>
            <a:r>
              <a:rPr sz="1300" b="0">
                <a:solidFill>
                  <a:srgbClr val="333F4F"/>
                </a:solidFill>
                <a:latin typeface="Calibri"/>
              </a:rPr>
              <a:t>An $895,000 platform project looks like the worst investment in the portfolio, so it goes last.</a:t>
            </a:r>
          </a:p>
        </p:txBody>
      </p:sp>
      <p:sp>
        <p:nvSpPr>
          <p:cNvPr id="28" name="Right Arrow 27"/>
          <p:cNvSpPr/>
          <p:nvPr/>
        </p:nvSpPr>
        <p:spPr>
          <a:xfrm>
            <a:off x="6089904" y="5084064"/>
            <a:ext cx="566928" cy="420624"/>
          </a:xfrm>
          <a:prstGeom prst="rightArrow">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4" y="4700016"/>
            <a:ext cx="4572000" cy="1280160"/>
          </a:xfrm>
          <a:prstGeom prst="rect">
            <a:avLst/>
          </a:prstGeom>
          <a:noFill/>
        </p:spPr>
        <p:txBody>
          <a:bodyPr wrap="square" lIns="0" rIns="0" tIns="0" bIns="0" anchor="t">
            <a:spAutoFit/>
          </a:bodyPr>
          <a:lstStyle/>
          <a:p>
            <a:pPr>
              <a:lnSpc>
                <a:spcPct val="98000"/>
              </a:lnSpc>
              <a:spcAft>
                <a:spcPts val="600"/>
              </a:spcAft>
            </a:pPr>
            <a:r>
              <a:rPr sz="1500" b="1">
                <a:solidFill>
                  <a:srgbClr val="C87A1E"/>
                </a:solidFill>
                <a:latin typeface="Calibri"/>
              </a:rPr>
              <a:t>It unlocks 28 other projects</a:t>
            </a:r>
          </a:p>
          <a:p>
            <a:pPr>
              <a:lnSpc>
                <a:spcPct val="98000"/>
              </a:lnSpc>
              <a:spcAft>
                <a:spcPts val="0"/>
              </a:spcAft>
            </a:pPr>
            <a:r>
              <a:rPr sz="1300" b="0">
                <a:solidFill>
                  <a:srgbClr val="333F4F"/>
                </a:solidFill>
                <a:latin typeface="Calibri"/>
              </a:rPr>
              <a:t>worth $38.6m a year. The tool moves it to the front. Same inputs, same answer, every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182880"/>
            <a:ext cx="11183112" cy="237744"/>
          </a:xfrm>
          <a:prstGeom prst="rect">
            <a:avLst/>
          </a:prstGeom>
          <a:noFill/>
        </p:spPr>
        <p:txBody>
          <a:bodyPr wrap="square" lIns="0" rIns="0" tIns="0" bIns="0">
            <a:spAutoFit/>
          </a:bodyPr>
          <a:lstStyle/>
          <a:p>
            <a:r>
              <a:rPr sz="1100" b="1">
                <a:solidFill>
                  <a:srgbClr val="1B6E8C"/>
                </a:solidFill>
                <a:latin typeface="Calibri"/>
              </a:rPr>
              <a:t>THE VALUE</a:t>
            </a:r>
          </a:p>
        </p:txBody>
      </p:sp>
      <p:sp>
        <p:nvSpPr>
          <p:cNvPr id="3" name="TextBox 2"/>
          <p:cNvSpPr txBox="1"/>
          <p:nvPr/>
        </p:nvSpPr>
        <p:spPr>
          <a:xfrm>
            <a:off x="502920" y="402336"/>
            <a:ext cx="11183112" cy="502920"/>
          </a:xfrm>
          <a:prstGeom prst="rect">
            <a:avLst/>
          </a:prstGeom>
          <a:noFill/>
        </p:spPr>
        <p:txBody>
          <a:bodyPr wrap="square" lIns="0" rIns="0" tIns="0" bIns="0">
            <a:spAutoFit/>
          </a:bodyPr>
          <a:lstStyle/>
          <a:p>
            <a:r>
              <a:rPr sz="2800" b="1">
                <a:solidFill>
                  <a:srgbClr val="16283C"/>
                </a:solidFill>
                <a:latin typeface="Calibri"/>
              </a:rPr>
              <a:t>Where the value actually lands</a:t>
            </a:r>
          </a:p>
        </p:txBody>
      </p:sp>
      <p:sp>
        <p:nvSpPr>
          <p:cNvPr id="4" name="TextBox 3"/>
          <p:cNvSpPr txBox="1"/>
          <p:nvPr/>
        </p:nvSpPr>
        <p:spPr>
          <a:xfrm>
            <a:off x="502920" y="896112"/>
            <a:ext cx="11183112" cy="365760"/>
          </a:xfrm>
          <a:prstGeom prst="rect">
            <a:avLst/>
          </a:prstGeom>
          <a:noFill/>
        </p:spPr>
        <p:txBody>
          <a:bodyPr wrap="square" lIns="0" rIns="0" tIns="0" bIns="0">
            <a:spAutoFit/>
          </a:bodyPr>
          <a:lstStyle/>
          <a:p>
            <a:r>
              <a:rPr sz="1400">
                <a:solidFill>
                  <a:srgbClr val="5A6674"/>
                </a:solidFill>
                <a:latin typeface="Calibri"/>
              </a:rPr>
              <a:t>The promise, the plan, and the gap between them.</a:t>
            </a:r>
          </a:p>
        </p:txBody>
      </p:sp>
      <p:sp>
        <p:nvSpPr>
          <p:cNvPr id="5" name="Rectangle 4"/>
          <p:cNvSpPr/>
          <p:nvPr/>
        </p:nvSpPr>
        <p:spPr>
          <a:xfrm>
            <a:off x="502920" y="1316736"/>
            <a:ext cx="11183112" cy="31750"/>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664208"/>
            <a:ext cx="3611880" cy="2066543"/>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64208"/>
            <a:ext cx="3611880" cy="146304"/>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2066544"/>
            <a:ext cx="3172968" cy="777240"/>
          </a:xfrm>
          <a:prstGeom prst="rect">
            <a:avLst/>
          </a:prstGeom>
          <a:noFill/>
        </p:spPr>
        <p:txBody>
          <a:bodyPr wrap="square" lIns="0" rIns="0" tIns="0" bIns="0" anchor="t">
            <a:spAutoFit/>
          </a:bodyPr>
          <a:lstStyle/>
          <a:p>
            <a:pPr>
              <a:lnSpc>
                <a:spcPct val="98000"/>
              </a:lnSpc>
              <a:spcAft>
                <a:spcPts val="0"/>
              </a:spcAft>
            </a:pPr>
            <a:r>
              <a:rPr sz="4400" b="1">
                <a:solidFill>
                  <a:srgbClr val="16283C"/>
                </a:solidFill>
                <a:latin typeface="Calibri"/>
              </a:rPr>
              <a:t>47%</a:t>
            </a:r>
          </a:p>
        </p:txBody>
      </p:sp>
      <p:sp>
        <p:nvSpPr>
          <p:cNvPr id="9" name="TextBox 8"/>
          <p:cNvSpPr txBox="1"/>
          <p:nvPr/>
        </p:nvSpPr>
        <p:spPr>
          <a:xfrm>
            <a:off x="722376" y="2889504"/>
            <a:ext cx="3172968" cy="694943"/>
          </a:xfrm>
          <a:prstGeom prst="rect">
            <a:avLst/>
          </a:prstGeom>
          <a:noFill/>
        </p:spPr>
        <p:txBody>
          <a:bodyPr wrap="square" lIns="0" rIns="0" tIns="0" bIns="0" anchor="t">
            <a:spAutoFit/>
          </a:bodyPr>
          <a:lstStyle/>
          <a:p>
            <a:pPr>
              <a:lnSpc>
                <a:spcPct val="98000"/>
              </a:lnSpc>
              <a:spcAft>
                <a:spcPts val="0"/>
              </a:spcAft>
            </a:pPr>
            <a:r>
              <a:rPr sz="1250" b="0">
                <a:solidFill>
                  <a:srgbClr val="333F4F"/>
                </a:solidFill>
                <a:latin typeface="Calibri"/>
              </a:rPr>
              <a:t>of the $84.3m promised is actually scheduled: a $39.6m a year run-rate by the end of 2027.</a:t>
            </a:r>
          </a:p>
        </p:txBody>
      </p:sp>
      <p:sp>
        <p:nvSpPr>
          <p:cNvPr id="10" name="Rectangle 9"/>
          <p:cNvSpPr/>
          <p:nvPr/>
        </p:nvSpPr>
        <p:spPr>
          <a:xfrm>
            <a:off x="4288536" y="1664208"/>
            <a:ext cx="3611880" cy="2066543"/>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88536" y="1664208"/>
            <a:ext cx="3611880" cy="146304"/>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2066544"/>
            <a:ext cx="3172968" cy="777240"/>
          </a:xfrm>
          <a:prstGeom prst="rect">
            <a:avLst/>
          </a:prstGeom>
          <a:noFill/>
        </p:spPr>
        <p:txBody>
          <a:bodyPr wrap="square" lIns="0" rIns="0" tIns="0" bIns="0" anchor="t">
            <a:spAutoFit/>
          </a:bodyPr>
          <a:lstStyle/>
          <a:p>
            <a:pPr>
              <a:lnSpc>
                <a:spcPct val="98000"/>
              </a:lnSpc>
              <a:spcAft>
                <a:spcPts val="0"/>
              </a:spcAft>
            </a:pPr>
            <a:r>
              <a:rPr sz="4400" b="1">
                <a:solidFill>
                  <a:srgbClr val="16283C"/>
                </a:solidFill>
                <a:latin typeface="Calibri"/>
              </a:rPr>
              <a:t>$18.0m</a:t>
            </a:r>
          </a:p>
        </p:txBody>
      </p:sp>
      <p:sp>
        <p:nvSpPr>
          <p:cNvPr id="13" name="TextBox 12"/>
          <p:cNvSpPr txBox="1"/>
          <p:nvPr/>
        </p:nvSpPr>
        <p:spPr>
          <a:xfrm>
            <a:off x="4507992" y="2889504"/>
            <a:ext cx="3172968" cy="694943"/>
          </a:xfrm>
          <a:prstGeom prst="rect">
            <a:avLst/>
          </a:prstGeom>
          <a:noFill/>
        </p:spPr>
        <p:txBody>
          <a:bodyPr wrap="square" lIns="0" rIns="0" tIns="0" bIns="0" anchor="t">
            <a:spAutoFit/>
          </a:bodyPr>
          <a:lstStyle/>
          <a:p>
            <a:pPr>
              <a:lnSpc>
                <a:spcPct val="98000"/>
              </a:lnSpc>
              <a:spcAft>
                <a:spcPts val="0"/>
              </a:spcAft>
            </a:pPr>
            <a:r>
              <a:rPr sz="1250" b="0">
                <a:solidFill>
                  <a:srgbClr val="333F4F"/>
                </a:solidFill>
                <a:latin typeface="Calibri"/>
              </a:rPr>
              <a:t>of benefit arrives inside the two year window, against $89.8m of planned spend in the same window.</a:t>
            </a:r>
          </a:p>
        </p:txBody>
      </p:sp>
      <p:sp>
        <p:nvSpPr>
          <p:cNvPr id="14" name="Rectangle 13"/>
          <p:cNvSpPr/>
          <p:nvPr/>
        </p:nvSpPr>
        <p:spPr>
          <a:xfrm>
            <a:off x="8074152" y="1664208"/>
            <a:ext cx="3611880" cy="2066543"/>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74152" y="1664208"/>
            <a:ext cx="3611880" cy="146304"/>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2066544"/>
            <a:ext cx="3172968" cy="777240"/>
          </a:xfrm>
          <a:prstGeom prst="rect">
            <a:avLst/>
          </a:prstGeom>
          <a:noFill/>
        </p:spPr>
        <p:txBody>
          <a:bodyPr wrap="square" lIns="0" rIns="0" tIns="0" bIns="0" anchor="t">
            <a:spAutoFit/>
          </a:bodyPr>
          <a:lstStyle/>
          <a:p>
            <a:pPr>
              <a:lnSpc>
                <a:spcPct val="98000"/>
              </a:lnSpc>
              <a:spcAft>
                <a:spcPts val="0"/>
              </a:spcAft>
            </a:pPr>
            <a:r>
              <a:rPr sz="4400" b="1">
                <a:solidFill>
                  <a:srgbClr val="16283C"/>
                </a:solidFill>
                <a:latin typeface="Calibri"/>
              </a:rPr>
              <a:t>16 of 60</a:t>
            </a:r>
          </a:p>
        </p:txBody>
      </p:sp>
      <p:sp>
        <p:nvSpPr>
          <p:cNvPr id="17" name="TextBox 16"/>
          <p:cNvSpPr txBox="1"/>
          <p:nvPr/>
        </p:nvSpPr>
        <p:spPr>
          <a:xfrm>
            <a:off x="8293608" y="2889504"/>
            <a:ext cx="3172968" cy="694943"/>
          </a:xfrm>
          <a:prstGeom prst="rect">
            <a:avLst/>
          </a:prstGeom>
          <a:noFill/>
        </p:spPr>
        <p:txBody>
          <a:bodyPr wrap="square" lIns="0" rIns="0" tIns="0" bIns="0" anchor="t">
            <a:spAutoFit/>
          </a:bodyPr>
          <a:lstStyle/>
          <a:p>
            <a:pPr>
              <a:lnSpc>
                <a:spcPct val="98000"/>
              </a:lnSpc>
              <a:spcAft>
                <a:spcPts val="0"/>
              </a:spcAft>
            </a:pPr>
            <a:r>
              <a:rPr sz="1250" b="0">
                <a:solidFill>
                  <a:srgbClr val="333F4F"/>
                </a:solidFill>
                <a:latin typeface="Calibri"/>
              </a:rPr>
              <a:t>projects deliver nothing at all inside the two year window.</a:t>
            </a:r>
          </a:p>
        </p:txBody>
      </p:sp>
      <p:sp>
        <p:nvSpPr>
          <p:cNvPr id="18" name="Rectangle 17"/>
          <p:cNvSpPr/>
          <p:nvPr/>
        </p:nvSpPr>
        <p:spPr>
          <a:xfrm>
            <a:off x="502920" y="3950208"/>
            <a:ext cx="11183112" cy="1700784"/>
          </a:xfrm>
          <a:prstGeom prst="rect">
            <a:avLst/>
          </a:prstGeom>
          <a:solidFill>
            <a:srgbClr val="F4F6F8"/>
          </a:solidFill>
          <a:ln w="9525">
            <a:solidFill>
              <a:srgbClr val="D5DC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950208"/>
            <a:ext cx="11183112" cy="146304"/>
          </a:xfrm>
          <a:prstGeom prst="rect">
            <a:avLst/>
          </a:prstGeom>
          <a:solidFill>
            <a:srgbClr val="1B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242816"/>
            <a:ext cx="3291840" cy="1280160"/>
          </a:xfrm>
          <a:prstGeom prst="rect">
            <a:avLst/>
          </a:prstGeom>
          <a:noFill/>
        </p:spPr>
        <p:txBody>
          <a:bodyPr wrap="square" lIns="0" rIns="0" tIns="0" bIns="0" anchor="t">
            <a:spAutoFit/>
          </a:bodyPr>
          <a:lstStyle/>
          <a:p>
            <a:pPr>
              <a:lnSpc>
                <a:spcPct val="98000"/>
              </a:lnSpc>
              <a:spcAft>
                <a:spcPts val="600"/>
              </a:spcAft>
            </a:pPr>
            <a:r>
              <a:rPr sz="1400" b="1">
                <a:solidFill>
                  <a:srgbClr val="16283C"/>
                </a:solidFill>
                <a:latin typeface="Calibri"/>
              </a:rPr>
              <a:t>What's next</a:t>
            </a:r>
          </a:p>
          <a:p>
            <a:pPr>
              <a:lnSpc>
                <a:spcPct val="98000"/>
              </a:lnSpc>
              <a:spcAft>
                <a:spcPts val="0"/>
              </a:spcAft>
            </a:pPr>
            <a:r>
              <a:rPr sz="1250" b="0">
                <a:solidFill>
                  <a:srgbClr val="333F4F"/>
                </a:solidFill>
                <a:latin typeface="Calibri"/>
              </a:rPr>
              <a:t>A 4 to 6 week pilot on one client's real portfolio.</a:t>
            </a:r>
          </a:p>
        </p:txBody>
      </p:sp>
      <p:sp>
        <p:nvSpPr>
          <p:cNvPr id="21" name="TextBox 20"/>
          <p:cNvSpPr txBox="1"/>
          <p:nvPr/>
        </p:nvSpPr>
        <p:spPr>
          <a:xfrm>
            <a:off x="4434840" y="4242816"/>
            <a:ext cx="3657600" cy="1280160"/>
          </a:xfrm>
          <a:prstGeom prst="rect">
            <a:avLst/>
          </a:prstGeom>
          <a:noFill/>
        </p:spPr>
        <p:txBody>
          <a:bodyPr wrap="square" lIns="0" rIns="0" tIns="0" bIns="0" anchor="t">
            <a:spAutoFit/>
          </a:bodyPr>
          <a:lstStyle/>
          <a:p>
            <a:pPr>
              <a:lnSpc>
                <a:spcPct val="98000"/>
              </a:lnSpc>
              <a:spcAft>
                <a:spcPts val="600"/>
              </a:spcAft>
            </a:pPr>
            <a:r>
              <a:rPr sz="1400" b="1">
                <a:solidFill>
                  <a:srgbClr val="16283C"/>
                </a:solidFill>
                <a:latin typeface="Calibri"/>
              </a:rPr>
              <a:t>What it needs</a:t>
            </a:r>
          </a:p>
          <a:p>
            <a:pPr>
              <a:lnSpc>
                <a:spcPct val="98000"/>
              </a:lnSpc>
              <a:spcAft>
                <a:spcPts val="0"/>
              </a:spcAft>
            </a:pPr>
            <a:r>
              <a:rPr sz="1250" b="0">
                <a:solidFill>
                  <a:srgbClr val="333F4F"/>
                </a:solidFill>
                <a:latin typeface="Calibri"/>
              </a:rPr>
              <a:t>A read-only export of their project tracker, a part-time analyst, a named executive sponsor.</a:t>
            </a:r>
          </a:p>
        </p:txBody>
      </p:sp>
      <p:sp>
        <p:nvSpPr>
          <p:cNvPr id="22" name="TextBox 21"/>
          <p:cNvSpPr txBox="1"/>
          <p:nvPr/>
        </p:nvSpPr>
        <p:spPr>
          <a:xfrm>
            <a:off x="8412480" y="4242816"/>
            <a:ext cx="3063240" cy="1280160"/>
          </a:xfrm>
          <a:prstGeom prst="rect">
            <a:avLst/>
          </a:prstGeom>
          <a:noFill/>
        </p:spPr>
        <p:txBody>
          <a:bodyPr wrap="square" lIns="0" rIns="0" tIns="0" bIns="0" anchor="t">
            <a:spAutoFit/>
          </a:bodyPr>
          <a:lstStyle/>
          <a:p>
            <a:pPr>
              <a:lnSpc>
                <a:spcPct val="98000"/>
              </a:lnSpc>
              <a:spcAft>
                <a:spcPts val="600"/>
              </a:spcAft>
            </a:pPr>
            <a:r>
              <a:rPr sz="1400" b="1">
                <a:solidFill>
                  <a:srgbClr val="16283C"/>
                </a:solidFill>
                <a:latin typeface="Calibri"/>
              </a:rPr>
              <a:t>How it's judged</a:t>
            </a:r>
          </a:p>
          <a:p>
            <a:pPr>
              <a:lnSpc>
                <a:spcPct val="98000"/>
              </a:lnSpc>
              <a:spcAft>
                <a:spcPts val="0"/>
              </a:spcAft>
            </a:pPr>
            <a:r>
              <a:rPr sz="1250" b="0">
                <a:solidFill>
                  <a:srgbClr val="333F4F"/>
                </a:solidFill>
                <a:latin typeface="Calibri"/>
              </a:rPr>
              <a:t>Time to a board-ready roadmap, and clashes caught before money is committed.</a:t>
            </a:r>
          </a:p>
        </p:txBody>
      </p:sp>
      <p:sp>
        <p:nvSpPr>
          <p:cNvPr id="23" name="Rectangle 22"/>
          <p:cNvSpPr/>
          <p:nvPr/>
        </p:nvSpPr>
        <p:spPr>
          <a:xfrm>
            <a:off x="502920" y="5833872"/>
            <a:ext cx="11183112" cy="658368"/>
          </a:xfrm>
          <a:prstGeom prst="rect">
            <a:avLst/>
          </a:prstGeom>
          <a:solidFill>
            <a:srgbClr val="162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5998464"/>
            <a:ext cx="10671048" cy="365759"/>
          </a:xfrm>
          <a:prstGeom prst="rect">
            <a:avLst/>
          </a:prstGeom>
          <a:noFill/>
        </p:spPr>
        <p:txBody>
          <a:bodyPr wrap="square" lIns="0" rIns="0" tIns="0" bIns="0" anchor="ctr">
            <a:spAutoFit/>
          </a:bodyPr>
          <a:lstStyle/>
          <a:p>
            <a:pPr>
              <a:lnSpc>
                <a:spcPct val="98000"/>
              </a:lnSpc>
              <a:spcAft>
                <a:spcPts val="0"/>
              </a:spcAft>
            </a:pPr>
            <a:r>
              <a:rPr sz="1250" b="0">
                <a:solidFill>
                  <a:srgbClr val="FFFFFF"/>
                </a:solidFill>
                <a:latin typeface="Calibri"/>
              </a:rPr>
              <a:t>Weeks of programme office analysis in minutes, and it all runs in the client's own browser, with no data leaving their environment.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